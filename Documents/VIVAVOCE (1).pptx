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bookmarkIdSeed="4">
  <p:sldMasterIdLst>
    <p:sldMasterId id="2147483648" r:id="rId1"/>
  </p:sldMasterIdLst>
  <p:notesMasterIdLst>
    <p:notesMasterId r:id="rId19"/>
  </p:notesMasterIdLst>
  <p:sldIdLst>
    <p:sldId id="256" r:id="rId2"/>
    <p:sldId id="277" r:id="rId3"/>
    <p:sldId id="281" r:id="rId4"/>
    <p:sldId id="282" r:id="rId5"/>
    <p:sldId id="283" r:id="rId6"/>
    <p:sldId id="258" r:id="rId7"/>
    <p:sldId id="259" r:id="rId8"/>
    <p:sldId id="260" r:id="rId9"/>
    <p:sldId id="263" r:id="rId10"/>
    <p:sldId id="262" r:id="rId11"/>
    <p:sldId id="278" r:id="rId12"/>
    <p:sldId id="266" r:id="rId13"/>
    <p:sldId id="284" r:id="rId14"/>
    <p:sldId id="275" r:id="rId15"/>
    <p:sldId id="276" r:id="rId16"/>
    <p:sldId id="265" r:id="rId17"/>
    <p:sldId id="261" r:id="rId18"/>
  </p:sldIdLst>
  <p:sldSz cx="100584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69FDD0D-EC88-4ABD-A7C6-BA1F44180CAE}">
          <p14:sldIdLst>
            <p14:sldId id="256"/>
            <p14:sldId id="277"/>
            <p14:sldId id="281"/>
            <p14:sldId id="282"/>
            <p14:sldId id="283"/>
            <p14:sldId id="258"/>
            <p14:sldId id="259"/>
            <p14:sldId id="260"/>
            <p14:sldId id="263"/>
            <p14:sldId id="262"/>
            <p14:sldId id="278"/>
            <p14:sldId id="266"/>
            <p14:sldId id="284"/>
            <p14:sldId id="275"/>
          </p14:sldIdLst>
        </p14:section>
        <p14:section name="Untitled Section" id="{C940AC77-79C6-49C6-9F09-6FA25267E01D}">
          <p14:sldIdLst>
            <p14:sldId id="276"/>
            <p14:sldId id="265"/>
            <p14:sldId id="261"/>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06" autoAdjust="0"/>
  </p:normalViewPr>
  <p:slideViewPr>
    <p:cSldViewPr>
      <p:cViewPr>
        <p:scale>
          <a:sx n="66" d="100"/>
          <a:sy n="66" d="100"/>
        </p:scale>
        <p:origin x="1742" y="130"/>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B557502D-BFE7-4C63-B054-2B29DF1A9BC4}" type="datetimeFigureOut">
              <a:rPr lang="en-IN" smtClean="0"/>
              <a:t>28-11-2025</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3293243-378A-4731-8E7D-2FB3979DFEEE}" type="slidenum">
              <a:rPr lang="en-IN" smtClean="0"/>
              <a:t>‹#›</a:t>
            </a:fld>
            <a:endParaRPr lang="en-IN"/>
          </a:p>
        </p:txBody>
      </p:sp>
    </p:spTree>
    <p:extLst>
      <p:ext uri="{BB962C8B-B14F-4D97-AF65-F5344CB8AC3E}">
        <p14:creationId xmlns:p14="http://schemas.microsoft.com/office/powerpoint/2010/main" val="168598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3293243-378A-4731-8E7D-2FB3979DFEEE}" type="slidenum">
              <a:rPr lang="en-IN" smtClean="0"/>
              <a:t>1</a:t>
            </a:fld>
            <a:endParaRPr lang="en-IN"/>
          </a:p>
        </p:txBody>
      </p:sp>
    </p:spTree>
    <p:extLst>
      <p:ext uri="{BB962C8B-B14F-4D97-AF65-F5344CB8AC3E}">
        <p14:creationId xmlns:p14="http://schemas.microsoft.com/office/powerpoint/2010/main" val="1362401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000" b="0" i="0">
                <a:solidFill>
                  <a:srgbClr val="888888"/>
                </a:solidFill>
                <a:latin typeface="Calibri"/>
                <a:cs typeface="Calibri"/>
              </a:defRPr>
            </a:lvl1pPr>
          </a:lstStyle>
          <a:p>
            <a:pPr marL="12700">
              <a:lnSpc>
                <a:spcPts val="1045"/>
              </a:lnSpc>
            </a:pPr>
            <a:r>
              <a:rPr lang="en-US" spc="-25"/>
              <a:t>SNSCT/CSE/Project/NCAIDIET'25_Conference</a:t>
            </a:r>
            <a:endParaRPr spc="-5" dirty="0"/>
          </a:p>
        </p:txBody>
      </p:sp>
      <p:sp>
        <p:nvSpPr>
          <p:cNvPr id="5" name="Holder 5"/>
          <p:cNvSpPr>
            <a:spLocks noGrp="1"/>
          </p:cNvSpPr>
          <p:nvPr>
            <p:ph type="dt" sz="half" idx="6"/>
          </p:nvPr>
        </p:nvSpPr>
        <p:spPr/>
        <p:txBody>
          <a:bodyPr lIns="0" tIns="0" rIns="0" bIns="0"/>
          <a:lstStyle>
            <a:lvl1pPr>
              <a:defRPr sz="1000" b="0" i="0">
                <a:solidFill>
                  <a:srgbClr val="888888"/>
                </a:solidFill>
                <a:latin typeface="Calibri"/>
                <a:cs typeface="Calibri"/>
              </a:defRPr>
            </a:lvl1pPr>
          </a:lstStyle>
          <a:p>
            <a:pPr marL="12700">
              <a:lnSpc>
                <a:spcPts val="1045"/>
              </a:lnSpc>
            </a:pPr>
            <a:r>
              <a:rPr lang="en-US" spc="-25"/>
              <a:t>28-04-2025</a:t>
            </a:r>
            <a:endParaRPr spc="-25" dirty="0"/>
          </a:p>
        </p:txBody>
      </p:sp>
      <p:sp>
        <p:nvSpPr>
          <p:cNvPr id="6" name="Holder 6"/>
          <p:cNvSpPr>
            <a:spLocks noGrp="1"/>
          </p:cNvSpPr>
          <p:nvPr>
            <p:ph type="sldNum" sz="quarter" idx="7"/>
          </p:nvPr>
        </p:nvSpPr>
        <p:spPr/>
        <p:txBody>
          <a:bodyPr lIns="0" tIns="0" rIns="0" bIns="0"/>
          <a:lstStyle>
            <a:lvl1pPr>
              <a:defRPr sz="1000" b="0" i="0">
                <a:solidFill>
                  <a:srgbClr val="888888"/>
                </a:solidFill>
                <a:latin typeface="Calibri"/>
                <a:cs typeface="Calibri"/>
              </a:defRPr>
            </a:lvl1pPr>
          </a:lstStyle>
          <a:p>
            <a:pPr marL="38100">
              <a:lnSpc>
                <a:spcPts val="1045"/>
              </a:lnSpc>
            </a:pPr>
            <a:fld id="{81D60167-4931-47E6-BA6A-407CBD079E47}" type="slidenum">
              <a:rPr spc="-5" dirty="0"/>
              <a:t>‹#›</a:t>
            </a:fld>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95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000" b="0" i="0">
                <a:solidFill>
                  <a:srgbClr val="888888"/>
                </a:solidFill>
                <a:latin typeface="Calibri"/>
                <a:cs typeface="Calibri"/>
              </a:defRPr>
            </a:lvl1pPr>
          </a:lstStyle>
          <a:p>
            <a:pPr marL="12700">
              <a:lnSpc>
                <a:spcPts val="1045"/>
              </a:lnSpc>
            </a:pPr>
            <a:r>
              <a:rPr lang="en-US" spc="-25"/>
              <a:t>SNSCT/CSE/Project/NCAIDIET'25_Conference</a:t>
            </a:r>
            <a:endParaRPr spc="-5" dirty="0"/>
          </a:p>
        </p:txBody>
      </p:sp>
      <p:sp>
        <p:nvSpPr>
          <p:cNvPr id="5" name="Holder 5"/>
          <p:cNvSpPr>
            <a:spLocks noGrp="1"/>
          </p:cNvSpPr>
          <p:nvPr>
            <p:ph type="dt" sz="half" idx="6"/>
          </p:nvPr>
        </p:nvSpPr>
        <p:spPr/>
        <p:txBody>
          <a:bodyPr lIns="0" tIns="0" rIns="0" bIns="0"/>
          <a:lstStyle>
            <a:lvl1pPr>
              <a:defRPr sz="1000" b="0" i="0">
                <a:solidFill>
                  <a:srgbClr val="888888"/>
                </a:solidFill>
                <a:latin typeface="Calibri"/>
                <a:cs typeface="Calibri"/>
              </a:defRPr>
            </a:lvl1pPr>
          </a:lstStyle>
          <a:p>
            <a:pPr marL="12700">
              <a:lnSpc>
                <a:spcPts val="1045"/>
              </a:lnSpc>
            </a:pPr>
            <a:r>
              <a:rPr lang="en-US" spc="-25"/>
              <a:t>28-04-2025</a:t>
            </a:r>
            <a:endParaRPr spc="-25" dirty="0"/>
          </a:p>
        </p:txBody>
      </p:sp>
      <p:sp>
        <p:nvSpPr>
          <p:cNvPr id="6" name="Holder 6"/>
          <p:cNvSpPr>
            <a:spLocks noGrp="1"/>
          </p:cNvSpPr>
          <p:nvPr>
            <p:ph type="sldNum" sz="quarter" idx="7"/>
          </p:nvPr>
        </p:nvSpPr>
        <p:spPr/>
        <p:txBody>
          <a:bodyPr lIns="0" tIns="0" rIns="0" bIns="0"/>
          <a:lstStyle>
            <a:lvl1pPr>
              <a:defRPr sz="1000" b="0" i="0">
                <a:solidFill>
                  <a:srgbClr val="888888"/>
                </a:solidFill>
                <a:latin typeface="Calibri"/>
                <a:cs typeface="Calibri"/>
              </a:defRPr>
            </a:lvl1pPr>
          </a:lstStyle>
          <a:p>
            <a:pPr marL="38100">
              <a:lnSpc>
                <a:spcPts val="1045"/>
              </a:lnSpc>
            </a:pPr>
            <a:fld id="{81D60167-4931-47E6-BA6A-407CBD079E47}" type="slidenum">
              <a:rPr spc="-5" dirty="0"/>
              <a:t>‹#›</a:t>
            </a:fld>
            <a:endParaRPr spc="-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95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00" b="0" i="0">
                <a:solidFill>
                  <a:srgbClr val="888888"/>
                </a:solidFill>
                <a:latin typeface="Calibri"/>
                <a:cs typeface="Calibri"/>
              </a:defRPr>
            </a:lvl1pPr>
          </a:lstStyle>
          <a:p>
            <a:pPr marL="12700">
              <a:lnSpc>
                <a:spcPts val="1045"/>
              </a:lnSpc>
            </a:pPr>
            <a:r>
              <a:rPr lang="en-US" spc="-25"/>
              <a:t>SNSCT/CSE/Project/NCAIDIET'25_Conference</a:t>
            </a:r>
            <a:endParaRPr spc="-5" dirty="0"/>
          </a:p>
        </p:txBody>
      </p:sp>
      <p:sp>
        <p:nvSpPr>
          <p:cNvPr id="6" name="Holder 6"/>
          <p:cNvSpPr>
            <a:spLocks noGrp="1"/>
          </p:cNvSpPr>
          <p:nvPr>
            <p:ph type="dt" sz="half" idx="6"/>
          </p:nvPr>
        </p:nvSpPr>
        <p:spPr/>
        <p:txBody>
          <a:bodyPr lIns="0" tIns="0" rIns="0" bIns="0"/>
          <a:lstStyle>
            <a:lvl1pPr>
              <a:defRPr sz="1000" b="0" i="0">
                <a:solidFill>
                  <a:srgbClr val="888888"/>
                </a:solidFill>
                <a:latin typeface="Calibri"/>
                <a:cs typeface="Calibri"/>
              </a:defRPr>
            </a:lvl1pPr>
          </a:lstStyle>
          <a:p>
            <a:pPr marL="12700">
              <a:lnSpc>
                <a:spcPts val="1045"/>
              </a:lnSpc>
            </a:pPr>
            <a:r>
              <a:rPr lang="en-US" spc="-25"/>
              <a:t>28-04-2025</a:t>
            </a:r>
            <a:endParaRPr spc="-25" dirty="0"/>
          </a:p>
        </p:txBody>
      </p:sp>
      <p:sp>
        <p:nvSpPr>
          <p:cNvPr id="7" name="Holder 7"/>
          <p:cNvSpPr>
            <a:spLocks noGrp="1"/>
          </p:cNvSpPr>
          <p:nvPr>
            <p:ph type="sldNum" sz="quarter" idx="7"/>
          </p:nvPr>
        </p:nvSpPr>
        <p:spPr/>
        <p:txBody>
          <a:bodyPr lIns="0" tIns="0" rIns="0" bIns="0"/>
          <a:lstStyle>
            <a:lvl1pPr>
              <a:defRPr sz="1000" b="0" i="0">
                <a:solidFill>
                  <a:srgbClr val="888888"/>
                </a:solidFill>
                <a:latin typeface="Calibri"/>
                <a:cs typeface="Calibri"/>
              </a:defRPr>
            </a:lvl1pPr>
          </a:lstStyle>
          <a:p>
            <a:pPr marL="38100">
              <a:lnSpc>
                <a:spcPts val="1045"/>
              </a:lnSpc>
            </a:pPr>
            <a:fld id="{81D60167-4931-47E6-BA6A-407CBD079E47}" type="slidenum">
              <a:rPr spc="-5" dirty="0"/>
              <a:t>‹#›</a:t>
            </a:fld>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95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000" b="0" i="0">
                <a:solidFill>
                  <a:srgbClr val="888888"/>
                </a:solidFill>
                <a:latin typeface="Calibri"/>
                <a:cs typeface="Calibri"/>
              </a:defRPr>
            </a:lvl1pPr>
          </a:lstStyle>
          <a:p>
            <a:pPr marL="12700">
              <a:lnSpc>
                <a:spcPts val="1045"/>
              </a:lnSpc>
            </a:pPr>
            <a:r>
              <a:rPr lang="en-US" spc="-25"/>
              <a:t>SNSCT/CSE/Project/NCAIDIET'25_Conference</a:t>
            </a:r>
            <a:endParaRPr spc="-5" dirty="0"/>
          </a:p>
        </p:txBody>
      </p:sp>
      <p:sp>
        <p:nvSpPr>
          <p:cNvPr id="4" name="Holder 4"/>
          <p:cNvSpPr>
            <a:spLocks noGrp="1"/>
          </p:cNvSpPr>
          <p:nvPr>
            <p:ph type="dt" sz="half" idx="6"/>
          </p:nvPr>
        </p:nvSpPr>
        <p:spPr/>
        <p:txBody>
          <a:bodyPr lIns="0" tIns="0" rIns="0" bIns="0"/>
          <a:lstStyle>
            <a:lvl1pPr>
              <a:defRPr sz="1000" b="0" i="0">
                <a:solidFill>
                  <a:srgbClr val="888888"/>
                </a:solidFill>
                <a:latin typeface="Calibri"/>
                <a:cs typeface="Calibri"/>
              </a:defRPr>
            </a:lvl1pPr>
          </a:lstStyle>
          <a:p>
            <a:pPr marL="12700">
              <a:lnSpc>
                <a:spcPts val="1045"/>
              </a:lnSpc>
            </a:pPr>
            <a:r>
              <a:rPr lang="en-US" spc="-25"/>
              <a:t>28-04-2025</a:t>
            </a:r>
            <a:endParaRPr spc="-25" dirty="0"/>
          </a:p>
        </p:txBody>
      </p:sp>
      <p:sp>
        <p:nvSpPr>
          <p:cNvPr id="5" name="Holder 5"/>
          <p:cNvSpPr>
            <a:spLocks noGrp="1"/>
          </p:cNvSpPr>
          <p:nvPr>
            <p:ph type="sldNum" sz="quarter" idx="7"/>
          </p:nvPr>
        </p:nvSpPr>
        <p:spPr/>
        <p:txBody>
          <a:bodyPr lIns="0" tIns="0" rIns="0" bIns="0"/>
          <a:lstStyle>
            <a:lvl1pPr>
              <a:defRPr sz="1000" b="0" i="0">
                <a:solidFill>
                  <a:srgbClr val="888888"/>
                </a:solidFill>
                <a:latin typeface="Calibri"/>
                <a:cs typeface="Calibri"/>
              </a:defRPr>
            </a:lvl1pPr>
          </a:lstStyle>
          <a:p>
            <a:pPr marL="38100">
              <a:lnSpc>
                <a:spcPts val="1045"/>
              </a:lnSpc>
            </a:pPr>
            <a:fld id="{81D60167-4931-47E6-BA6A-407CBD079E47}" type="slidenum">
              <a:rPr spc="-5" dirty="0"/>
              <a:t>‹#›</a:t>
            </a:fld>
            <a:endParaRPr spc="-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00" b="0" i="0">
                <a:solidFill>
                  <a:srgbClr val="888888"/>
                </a:solidFill>
                <a:latin typeface="Calibri"/>
                <a:cs typeface="Calibri"/>
              </a:defRPr>
            </a:lvl1pPr>
          </a:lstStyle>
          <a:p>
            <a:pPr marL="12700">
              <a:lnSpc>
                <a:spcPts val="1045"/>
              </a:lnSpc>
            </a:pPr>
            <a:r>
              <a:rPr lang="en-US" spc="-25"/>
              <a:t>SNSCT/CSE/Project/NCAIDIET'25_Conference</a:t>
            </a:r>
            <a:endParaRPr spc="-5" dirty="0"/>
          </a:p>
        </p:txBody>
      </p:sp>
      <p:sp>
        <p:nvSpPr>
          <p:cNvPr id="3" name="Holder 3"/>
          <p:cNvSpPr>
            <a:spLocks noGrp="1"/>
          </p:cNvSpPr>
          <p:nvPr>
            <p:ph type="dt" sz="half" idx="6"/>
          </p:nvPr>
        </p:nvSpPr>
        <p:spPr/>
        <p:txBody>
          <a:bodyPr lIns="0" tIns="0" rIns="0" bIns="0"/>
          <a:lstStyle>
            <a:lvl1pPr>
              <a:defRPr sz="1000" b="0" i="0">
                <a:solidFill>
                  <a:srgbClr val="888888"/>
                </a:solidFill>
                <a:latin typeface="Calibri"/>
                <a:cs typeface="Calibri"/>
              </a:defRPr>
            </a:lvl1pPr>
          </a:lstStyle>
          <a:p>
            <a:pPr marL="12700">
              <a:lnSpc>
                <a:spcPts val="1045"/>
              </a:lnSpc>
            </a:pPr>
            <a:r>
              <a:rPr lang="en-US" spc="-25"/>
              <a:t>28-04-2025</a:t>
            </a:r>
            <a:endParaRPr spc="-25" dirty="0"/>
          </a:p>
        </p:txBody>
      </p:sp>
      <p:sp>
        <p:nvSpPr>
          <p:cNvPr id="4" name="Holder 4"/>
          <p:cNvSpPr>
            <a:spLocks noGrp="1"/>
          </p:cNvSpPr>
          <p:nvPr>
            <p:ph type="sldNum" sz="quarter" idx="7"/>
          </p:nvPr>
        </p:nvSpPr>
        <p:spPr/>
        <p:txBody>
          <a:bodyPr lIns="0" tIns="0" rIns="0" bIns="0"/>
          <a:lstStyle>
            <a:lvl1pPr>
              <a:defRPr sz="1000" b="0" i="0">
                <a:solidFill>
                  <a:srgbClr val="888888"/>
                </a:solidFill>
                <a:latin typeface="Calibri"/>
                <a:cs typeface="Calibri"/>
              </a:defRPr>
            </a:lvl1pPr>
          </a:lstStyle>
          <a:p>
            <a:pPr marL="38100">
              <a:lnSpc>
                <a:spcPts val="1045"/>
              </a:lnSpc>
            </a:pPr>
            <a:fld id="{81D60167-4931-47E6-BA6A-407CBD079E47}" type="slidenum">
              <a:rPr spc="-5" dirty="0"/>
              <a:t>‹#›</a:t>
            </a:fld>
            <a:endParaRPr spc="-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19576" y="1505788"/>
            <a:ext cx="2583815" cy="324485"/>
          </a:xfrm>
          <a:prstGeom prst="rect">
            <a:avLst/>
          </a:prstGeom>
        </p:spPr>
        <p:txBody>
          <a:bodyPr wrap="square" lIns="0" tIns="0" rIns="0" bIns="0">
            <a:spAutoFit/>
          </a:bodyPr>
          <a:lstStyle>
            <a:lvl1pPr>
              <a:defRPr sz="195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670966" y="2202307"/>
            <a:ext cx="8716467" cy="3736975"/>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084446" y="6375780"/>
            <a:ext cx="1870075" cy="152400"/>
          </a:xfrm>
          <a:prstGeom prst="rect">
            <a:avLst/>
          </a:prstGeom>
        </p:spPr>
        <p:txBody>
          <a:bodyPr wrap="square" lIns="0" tIns="0" rIns="0" bIns="0">
            <a:spAutoFit/>
          </a:bodyPr>
          <a:lstStyle>
            <a:lvl1pPr>
              <a:defRPr sz="1000" b="0" i="0">
                <a:solidFill>
                  <a:srgbClr val="888888"/>
                </a:solidFill>
                <a:latin typeface="Calibri"/>
                <a:cs typeface="Calibri"/>
              </a:defRPr>
            </a:lvl1pPr>
          </a:lstStyle>
          <a:p>
            <a:pPr marL="12700">
              <a:lnSpc>
                <a:spcPts val="1045"/>
              </a:lnSpc>
            </a:pPr>
            <a:r>
              <a:rPr lang="en-US" spc="-25"/>
              <a:t>SNSCT/CSE/Project/NCAIDIET'25_Conference</a:t>
            </a:r>
            <a:endParaRPr spc="-5" dirty="0"/>
          </a:p>
        </p:txBody>
      </p:sp>
      <p:sp>
        <p:nvSpPr>
          <p:cNvPr id="5" name="Holder 5"/>
          <p:cNvSpPr>
            <a:spLocks noGrp="1"/>
          </p:cNvSpPr>
          <p:nvPr>
            <p:ph type="dt" sz="half" idx="6"/>
          </p:nvPr>
        </p:nvSpPr>
        <p:spPr>
          <a:xfrm>
            <a:off x="753567" y="6375780"/>
            <a:ext cx="594360" cy="152400"/>
          </a:xfrm>
          <a:prstGeom prst="rect">
            <a:avLst/>
          </a:prstGeom>
        </p:spPr>
        <p:txBody>
          <a:bodyPr wrap="square" lIns="0" tIns="0" rIns="0" bIns="0">
            <a:spAutoFit/>
          </a:bodyPr>
          <a:lstStyle>
            <a:lvl1pPr>
              <a:defRPr sz="1000" b="0" i="0">
                <a:solidFill>
                  <a:srgbClr val="888888"/>
                </a:solidFill>
                <a:latin typeface="Calibri"/>
                <a:cs typeface="Calibri"/>
              </a:defRPr>
            </a:lvl1pPr>
          </a:lstStyle>
          <a:p>
            <a:pPr marL="12700">
              <a:lnSpc>
                <a:spcPts val="1045"/>
              </a:lnSpc>
            </a:pPr>
            <a:r>
              <a:rPr lang="en-US" spc="-25"/>
              <a:t>28-04-2025</a:t>
            </a:r>
            <a:endParaRPr spc="-25" dirty="0"/>
          </a:p>
        </p:txBody>
      </p:sp>
      <p:sp>
        <p:nvSpPr>
          <p:cNvPr id="6" name="Holder 6"/>
          <p:cNvSpPr>
            <a:spLocks noGrp="1"/>
          </p:cNvSpPr>
          <p:nvPr>
            <p:ph type="sldNum" sz="quarter" idx="7"/>
          </p:nvPr>
        </p:nvSpPr>
        <p:spPr>
          <a:xfrm>
            <a:off x="9189466" y="6375780"/>
            <a:ext cx="140334" cy="152400"/>
          </a:xfrm>
          <a:prstGeom prst="rect">
            <a:avLst/>
          </a:prstGeom>
        </p:spPr>
        <p:txBody>
          <a:bodyPr wrap="square" lIns="0" tIns="0" rIns="0" bIns="0">
            <a:spAutoFit/>
          </a:bodyPr>
          <a:lstStyle>
            <a:lvl1pPr>
              <a:defRPr sz="1000" b="0" i="0">
                <a:solidFill>
                  <a:srgbClr val="888888"/>
                </a:solidFill>
                <a:latin typeface="Calibri"/>
                <a:cs typeface="Calibri"/>
              </a:defRPr>
            </a:lvl1pPr>
          </a:lstStyle>
          <a:p>
            <a:pPr marL="38100">
              <a:lnSpc>
                <a:spcPts val="1045"/>
              </a:lnSpc>
            </a:pPr>
            <a:fld id="{81D60167-4931-47E6-BA6A-407CBD079E47}" type="slidenum">
              <a:rPr spc="-5" dirty="0"/>
              <a:t>‹#›</a:t>
            </a:fld>
            <a:endParaRPr spc="-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90800" y="226803"/>
            <a:ext cx="5085016" cy="382797"/>
          </a:xfrm>
          <a:prstGeom prst="rect">
            <a:avLst/>
          </a:prstGeom>
        </p:spPr>
        <p:txBody>
          <a:bodyPr vert="horz" wrap="square" lIns="0" tIns="13335" rIns="0" bIns="0" rtlCol="0">
            <a:spAutoFit/>
          </a:bodyPr>
          <a:lstStyle/>
          <a:p>
            <a:pPr marL="12700">
              <a:lnSpc>
                <a:spcPct val="100000"/>
              </a:lnSpc>
              <a:spcBef>
                <a:spcPts val="105"/>
              </a:spcBef>
            </a:pPr>
            <a:r>
              <a:rPr sz="2400" b="1" dirty="0">
                <a:latin typeface="Times New Roman"/>
                <a:cs typeface="Times New Roman"/>
              </a:rPr>
              <a:t>SNS</a:t>
            </a:r>
            <a:r>
              <a:rPr sz="2400" b="1" spc="25" dirty="0">
                <a:latin typeface="Times New Roman"/>
                <a:cs typeface="Times New Roman"/>
              </a:rPr>
              <a:t> </a:t>
            </a:r>
            <a:r>
              <a:rPr sz="2400" b="1" dirty="0">
                <a:latin typeface="Times New Roman"/>
                <a:cs typeface="Times New Roman"/>
              </a:rPr>
              <a:t>COLLEGE</a:t>
            </a:r>
            <a:r>
              <a:rPr sz="2400" b="1" spc="-5" dirty="0">
                <a:latin typeface="Times New Roman"/>
                <a:cs typeface="Times New Roman"/>
              </a:rPr>
              <a:t> </a:t>
            </a:r>
            <a:r>
              <a:rPr sz="2400" b="1" dirty="0">
                <a:latin typeface="Times New Roman"/>
                <a:cs typeface="Times New Roman"/>
              </a:rPr>
              <a:t>OF</a:t>
            </a:r>
            <a:r>
              <a:rPr sz="2400" b="1" spc="-95" dirty="0">
                <a:latin typeface="Times New Roman"/>
                <a:cs typeface="Times New Roman"/>
              </a:rPr>
              <a:t> </a:t>
            </a:r>
            <a:r>
              <a:rPr sz="2400" b="1" spc="-10" dirty="0">
                <a:latin typeface="Times New Roman"/>
                <a:cs typeface="Times New Roman"/>
              </a:rPr>
              <a:t>TECHNOLOGY</a:t>
            </a:r>
            <a:endParaRPr sz="2400" dirty="0">
              <a:latin typeface="Times New Roman"/>
              <a:cs typeface="Times New Roman"/>
            </a:endParaRPr>
          </a:p>
        </p:txBody>
      </p:sp>
      <p:sp>
        <p:nvSpPr>
          <p:cNvPr id="3" name="object 3"/>
          <p:cNvSpPr txBox="1">
            <a:spLocks noGrp="1"/>
          </p:cNvSpPr>
          <p:nvPr>
            <p:ph type="title"/>
          </p:nvPr>
        </p:nvSpPr>
        <p:spPr>
          <a:xfrm>
            <a:off x="3771454" y="697892"/>
            <a:ext cx="2583815" cy="324485"/>
          </a:xfrm>
          <a:prstGeom prst="rect">
            <a:avLst/>
          </a:prstGeom>
        </p:spPr>
        <p:txBody>
          <a:bodyPr vert="horz" wrap="square" lIns="0" tIns="13335" rIns="0" bIns="0" rtlCol="0">
            <a:spAutoFit/>
          </a:bodyPr>
          <a:lstStyle/>
          <a:p>
            <a:pPr marL="12700">
              <a:lnSpc>
                <a:spcPct val="100000"/>
              </a:lnSpc>
              <a:spcBef>
                <a:spcPts val="105"/>
              </a:spcBef>
            </a:pPr>
            <a:r>
              <a:rPr spc="-10" dirty="0"/>
              <a:t>COIMBATORE-641035</a:t>
            </a:r>
          </a:p>
        </p:txBody>
      </p:sp>
      <p:sp>
        <p:nvSpPr>
          <p:cNvPr id="4" name="object 4"/>
          <p:cNvSpPr txBox="1"/>
          <p:nvPr/>
        </p:nvSpPr>
        <p:spPr>
          <a:xfrm>
            <a:off x="1676400" y="2429998"/>
            <a:ext cx="7247890" cy="313547"/>
          </a:xfrm>
          <a:prstGeom prst="rect">
            <a:avLst/>
          </a:prstGeom>
        </p:spPr>
        <p:txBody>
          <a:bodyPr vert="horz" wrap="square" lIns="0" tIns="13335" rIns="0" bIns="0" rtlCol="0">
            <a:spAutoFit/>
          </a:bodyPr>
          <a:lstStyle/>
          <a:p>
            <a:pPr marL="12700">
              <a:lnSpc>
                <a:spcPct val="100000"/>
              </a:lnSpc>
              <a:spcBef>
                <a:spcPts val="105"/>
              </a:spcBef>
            </a:pPr>
            <a:r>
              <a:rPr sz="1950" dirty="0">
                <a:latin typeface="Times New Roman"/>
                <a:cs typeface="Times New Roman"/>
              </a:rPr>
              <a:t>DEPARTMENT</a:t>
            </a:r>
            <a:r>
              <a:rPr sz="1950" spc="-25" dirty="0">
                <a:latin typeface="Times New Roman"/>
                <a:cs typeface="Times New Roman"/>
              </a:rPr>
              <a:t> </a:t>
            </a:r>
            <a:r>
              <a:rPr sz="1950" dirty="0">
                <a:latin typeface="Times New Roman"/>
                <a:cs typeface="Times New Roman"/>
              </a:rPr>
              <a:t>OF</a:t>
            </a:r>
            <a:r>
              <a:rPr sz="1950" spc="-40" dirty="0">
                <a:latin typeface="Times New Roman"/>
                <a:cs typeface="Times New Roman"/>
              </a:rPr>
              <a:t> </a:t>
            </a:r>
            <a:r>
              <a:rPr sz="1950" dirty="0">
                <a:latin typeface="Times New Roman"/>
                <a:cs typeface="Times New Roman"/>
              </a:rPr>
              <a:t>COMPUTER</a:t>
            </a:r>
            <a:r>
              <a:rPr lang="en-US" sz="1950" dirty="0">
                <a:latin typeface="Times New Roman"/>
                <a:cs typeface="Times New Roman"/>
              </a:rPr>
              <a:t> </a:t>
            </a:r>
            <a:r>
              <a:rPr sz="1950" dirty="0">
                <a:latin typeface="Times New Roman"/>
                <a:cs typeface="Times New Roman"/>
              </a:rPr>
              <a:t>SCIENCE</a:t>
            </a:r>
            <a:r>
              <a:rPr sz="1950" spc="-95" dirty="0">
                <a:latin typeface="Times New Roman"/>
                <a:cs typeface="Times New Roman"/>
              </a:rPr>
              <a:t> </a:t>
            </a:r>
            <a:r>
              <a:rPr sz="1950" dirty="0">
                <a:latin typeface="Times New Roman"/>
                <a:cs typeface="Times New Roman"/>
              </a:rPr>
              <a:t>AND</a:t>
            </a:r>
            <a:r>
              <a:rPr sz="1950" spc="40" dirty="0">
                <a:latin typeface="Times New Roman"/>
                <a:cs typeface="Times New Roman"/>
              </a:rPr>
              <a:t> </a:t>
            </a:r>
            <a:r>
              <a:rPr sz="1950" spc="-5" dirty="0">
                <a:latin typeface="Times New Roman"/>
                <a:cs typeface="Times New Roman"/>
              </a:rPr>
              <a:t>ENGINEERING</a:t>
            </a:r>
            <a:endParaRPr sz="1700" dirty="0">
              <a:latin typeface="Times New Roman"/>
              <a:cs typeface="Times New Roman"/>
            </a:endParaRPr>
          </a:p>
        </p:txBody>
      </p:sp>
      <p:pic>
        <p:nvPicPr>
          <p:cNvPr id="6" name="object 6"/>
          <p:cNvPicPr/>
          <p:nvPr/>
        </p:nvPicPr>
        <p:blipFill>
          <a:blip r:embed="rId3" cstate="print"/>
          <a:stretch>
            <a:fillRect/>
          </a:stretch>
        </p:blipFill>
        <p:spPr>
          <a:xfrm>
            <a:off x="228600" y="133198"/>
            <a:ext cx="707745" cy="705002"/>
          </a:xfrm>
          <a:prstGeom prst="rect">
            <a:avLst/>
          </a:prstGeom>
        </p:spPr>
      </p:pic>
      <p:pic>
        <p:nvPicPr>
          <p:cNvPr id="7" name="object 7"/>
          <p:cNvPicPr/>
          <p:nvPr/>
        </p:nvPicPr>
        <p:blipFill>
          <a:blip r:embed="rId4" cstate="print"/>
          <a:stretch>
            <a:fillRect/>
          </a:stretch>
        </p:blipFill>
        <p:spPr>
          <a:xfrm>
            <a:off x="8991600" y="228600"/>
            <a:ext cx="908303" cy="533400"/>
          </a:xfrm>
          <a:prstGeom prst="rect">
            <a:avLst/>
          </a:prstGeom>
        </p:spPr>
      </p:pic>
      <p:sp>
        <p:nvSpPr>
          <p:cNvPr id="9" name="object 9"/>
          <p:cNvSpPr txBox="1"/>
          <p:nvPr/>
        </p:nvSpPr>
        <p:spPr>
          <a:xfrm>
            <a:off x="5614950" y="4336376"/>
            <a:ext cx="2311528" cy="339837"/>
          </a:xfrm>
          <a:prstGeom prst="rect">
            <a:avLst/>
          </a:prstGeom>
        </p:spPr>
        <p:txBody>
          <a:bodyPr vert="horz" wrap="square" lIns="0" tIns="85090" rIns="0" bIns="0" rtlCol="0">
            <a:spAutoFit/>
          </a:bodyPr>
          <a:lstStyle/>
          <a:p>
            <a:pPr marL="12700">
              <a:lnSpc>
                <a:spcPct val="100000"/>
              </a:lnSpc>
              <a:spcBef>
                <a:spcPts val="670"/>
              </a:spcBef>
            </a:pPr>
            <a:r>
              <a:rPr sz="1650" b="1" dirty="0">
                <a:latin typeface="Times New Roman"/>
                <a:cs typeface="Times New Roman"/>
              </a:rPr>
              <a:t>TEAM</a:t>
            </a:r>
            <a:r>
              <a:rPr sz="1650" b="1" spc="-60" dirty="0">
                <a:latin typeface="Times New Roman"/>
                <a:cs typeface="Times New Roman"/>
              </a:rPr>
              <a:t> </a:t>
            </a:r>
            <a:r>
              <a:rPr sz="1650" b="1" dirty="0">
                <a:latin typeface="Times New Roman"/>
                <a:cs typeface="Times New Roman"/>
              </a:rPr>
              <a:t>MEMBERS</a:t>
            </a:r>
            <a:r>
              <a:rPr sz="1650" b="1" spc="-85" dirty="0">
                <a:latin typeface="Times New Roman"/>
                <a:cs typeface="Times New Roman"/>
              </a:rPr>
              <a:t> </a:t>
            </a:r>
            <a:r>
              <a:rPr sz="1450" b="1" dirty="0">
                <a:latin typeface="Times New Roman"/>
                <a:cs typeface="Times New Roman"/>
              </a:rPr>
              <a:t>:</a:t>
            </a:r>
            <a:endParaRPr sz="1450" dirty="0">
              <a:latin typeface="Times New Roman"/>
              <a:cs typeface="Times New Roman"/>
            </a:endParaRPr>
          </a:p>
        </p:txBody>
      </p:sp>
      <p:sp>
        <p:nvSpPr>
          <p:cNvPr id="10" name="object 10"/>
          <p:cNvSpPr txBox="1"/>
          <p:nvPr/>
        </p:nvSpPr>
        <p:spPr>
          <a:xfrm>
            <a:off x="1215533" y="3118681"/>
            <a:ext cx="7835550" cy="689932"/>
          </a:xfrm>
          <a:prstGeom prst="rect">
            <a:avLst/>
          </a:prstGeom>
          <a:noFill/>
          <a:ln>
            <a:noFill/>
          </a:ln>
        </p:spPr>
        <p:style>
          <a:lnRef idx="0">
            <a:scrgbClr r="0" g="0" b="0"/>
          </a:lnRef>
          <a:fillRef idx="0">
            <a:scrgbClr r="0" g="0" b="0"/>
          </a:fillRef>
          <a:effectRef idx="0">
            <a:scrgbClr r="0" g="0" b="0"/>
          </a:effectRef>
          <a:fontRef idx="minor">
            <a:schemeClr val="dk1"/>
          </a:fontRef>
        </p:style>
        <p:txBody>
          <a:bodyPr vert="horz" wrap="square" lIns="0" tIns="73660" rIns="0" bIns="0" rtlCol="0">
            <a:spAutoFit/>
          </a:bodyPr>
          <a:lstStyle/>
          <a:p>
            <a:pPr marL="12065" algn="ctr">
              <a:spcBef>
                <a:spcPts val="580"/>
              </a:spcBef>
            </a:pPr>
            <a:r>
              <a:rPr lang="en-US" sz="2000" b="1" dirty="0">
                <a:latin typeface="Times New Roman" panose="02020603050405020304" pitchFamily="18" charset="0"/>
                <a:cs typeface="Times New Roman" panose="02020603050405020304" pitchFamily="18" charset="0"/>
              </a:rPr>
              <a:t>TITLE OF THE PAPER : Skin cancer diagnosis system using machine learning &amp; design thinking framework</a:t>
            </a:r>
          </a:p>
        </p:txBody>
      </p:sp>
      <p:sp>
        <p:nvSpPr>
          <p:cNvPr id="11" name="object 11"/>
          <p:cNvSpPr txBox="1"/>
          <p:nvPr/>
        </p:nvSpPr>
        <p:spPr>
          <a:xfrm>
            <a:off x="1439417" y="4281412"/>
            <a:ext cx="3437383" cy="818814"/>
          </a:xfrm>
          <a:prstGeom prst="rect">
            <a:avLst/>
          </a:prstGeom>
        </p:spPr>
        <p:txBody>
          <a:bodyPr vert="horz" wrap="square" lIns="0" tIns="158115" rIns="0" bIns="0" rtlCol="0">
            <a:spAutoFit/>
          </a:bodyPr>
          <a:lstStyle/>
          <a:p>
            <a:pPr marL="12700">
              <a:lnSpc>
                <a:spcPct val="100000"/>
              </a:lnSpc>
              <a:spcBef>
                <a:spcPts val="1245"/>
              </a:spcBef>
            </a:pPr>
            <a:r>
              <a:rPr sz="1650" b="1" dirty="0">
                <a:latin typeface="Times New Roman"/>
                <a:cs typeface="Times New Roman"/>
              </a:rPr>
              <a:t>PROJECT</a:t>
            </a:r>
            <a:r>
              <a:rPr sz="1650" b="1" spc="-100" dirty="0">
                <a:latin typeface="Times New Roman"/>
                <a:cs typeface="Times New Roman"/>
              </a:rPr>
              <a:t> </a:t>
            </a:r>
            <a:r>
              <a:rPr sz="1650" b="1" spc="5" dirty="0">
                <a:latin typeface="Times New Roman"/>
                <a:cs typeface="Times New Roman"/>
              </a:rPr>
              <a:t>GUIDE</a:t>
            </a:r>
            <a:r>
              <a:rPr sz="1650" b="1" spc="-100" dirty="0">
                <a:latin typeface="Times New Roman"/>
                <a:cs typeface="Times New Roman"/>
              </a:rPr>
              <a:t> </a:t>
            </a:r>
            <a:r>
              <a:rPr sz="1650" b="1" dirty="0">
                <a:latin typeface="Times New Roman"/>
                <a:cs typeface="Times New Roman"/>
              </a:rPr>
              <a:t>:</a:t>
            </a:r>
            <a:endParaRPr sz="1650" dirty="0">
              <a:latin typeface="Times New Roman"/>
              <a:cs typeface="Times New Roman"/>
            </a:endParaRPr>
          </a:p>
          <a:p>
            <a:pPr marL="12700">
              <a:lnSpc>
                <a:spcPct val="100000"/>
              </a:lnSpc>
              <a:spcBef>
                <a:spcPts val="1005"/>
              </a:spcBef>
            </a:pPr>
            <a:r>
              <a:rPr spc="-5" dirty="0">
                <a:latin typeface="Times New Roman"/>
                <a:cs typeface="Times New Roman"/>
              </a:rPr>
              <a:t>Dr.</a:t>
            </a:r>
            <a:r>
              <a:rPr spc="25" dirty="0">
                <a:latin typeface="Times New Roman"/>
                <a:cs typeface="Times New Roman"/>
              </a:rPr>
              <a:t> </a:t>
            </a:r>
            <a:r>
              <a:rPr lang="en-US" spc="25" dirty="0">
                <a:latin typeface="Times New Roman"/>
                <a:cs typeface="Times New Roman"/>
              </a:rPr>
              <a:t>S.R JANANI</a:t>
            </a:r>
            <a:r>
              <a:rPr spc="-15" dirty="0">
                <a:latin typeface="Times New Roman"/>
                <a:cs typeface="Times New Roman"/>
              </a:rPr>
              <a:t>/CSE</a:t>
            </a:r>
            <a:endParaRPr dirty="0">
              <a:latin typeface="Times New Roman"/>
              <a:cs typeface="Times New Roman"/>
            </a:endParaRPr>
          </a:p>
        </p:txBody>
      </p:sp>
      <p:sp>
        <p:nvSpPr>
          <p:cNvPr id="13" name="TextBox 12">
            <a:extLst>
              <a:ext uri="{FF2B5EF4-FFF2-40B4-BE49-F238E27FC236}">
                <a16:creationId xmlns:a16="http://schemas.microsoft.com/office/drawing/2014/main" id="{74D58628-B3A1-3F66-39FF-17E4210C68AC}"/>
              </a:ext>
            </a:extLst>
          </p:cNvPr>
          <p:cNvSpPr txBox="1"/>
          <p:nvPr/>
        </p:nvSpPr>
        <p:spPr>
          <a:xfrm>
            <a:off x="5600082" y="4786973"/>
            <a:ext cx="3946850" cy="1200329"/>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MEGAVARSHINI A         713522CS083</a:t>
            </a:r>
          </a:p>
          <a:p>
            <a:r>
              <a:rPr lang="en-US" dirty="0">
                <a:latin typeface="Times New Roman" panose="02020603050405020304" pitchFamily="18" charset="0"/>
                <a:cs typeface="Times New Roman" panose="02020603050405020304" pitchFamily="18" charset="0"/>
              </a:rPr>
              <a:t>NEHA S                           713522CS099</a:t>
            </a:r>
          </a:p>
          <a:p>
            <a:r>
              <a:rPr lang="en-US" dirty="0">
                <a:latin typeface="Times New Roman" panose="02020603050405020304" pitchFamily="18" charset="0"/>
                <a:cs typeface="Times New Roman" panose="02020603050405020304" pitchFamily="18" charset="0"/>
              </a:rPr>
              <a:t>MONIKA S                      713522CS089</a:t>
            </a:r>
          </a:p>
          <a:p>
            <a:r>
              <a:rPr lang="en-US" dirty="0">
                <a:latin typeface="Times New Roman" panose="02020603050405020304" pitchFamily="18" charset="0"/>
                <a:cs typeface="Times New Roman" panose="02020603050405020304" pitchFamily="18" charset="0"/>
              </a:rPr>
              <a:t>MOHANA SHREE A S    713522CS088</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DA02887-203D-8C71-E8EC-E1A50FA8EBF3}"/>
              </a:ext>
            </a:extLst>
          </p:cNvPr>
          <p:cNvSpPr txBox="1"/>
          <p:nvPr/>
        </p:nvSpPr>
        <p:spPr>
          <a:xfrm>
            <a:off x="1439417" y="1441728"/>
            <a:ext cx="7391400" cy="707886"/>
          </a:xfrm>
          <a:prstGeom prst="rect">
            <a:avLst/>
          </a:prstGeom>
          <a:noFill/>
        </p:spPr>
        <p:txBody>
          <a:bodyPr wrap="square" rtlCol="0">
            <a:spAutoFit/>
          </a:bodyPr>
          <a:lstStyle/>
          <a:p>
            <a:pPr algn="ctr"/>
            <a:r>
              <a:rPr lang="en-US" sz="2000" b="1" dirty="0">
                <a:latin typeface="Times New Roman" panose="02020603050405020304" charset="0"/>
                <a:cs typeface="Times New Roman" panose="02020603050405020304" charset="0"/>
              </a:rPr>
              <a:t>NATIONAL CONFERENCE ON AI-DRIVEN INNOVATION IN ENGINEEERING AND TECHNOLOGY - NCAIDIET’25</a:t>
            </a:r>
          </a:p>
        </p:txBody>
      </p:sp>
    </p:spTree>
  </p:cSld>
  <p:clrMapOvr>
    <a:masterClrMapping/>
  </p:clrMapOvr>
  <p:transition spd="slow">
    <p:comb/>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DA3E7-8066-B27A-6025-1F6C418981DC}"/>
              </a:ext>
            </a:extLst>
          </p:cNvPr>
          <p:cNvSpPr>
            <a:spLocks noGrp="1"/>
          </p:cNvSpPr>
          <p:nvPr>
            <p:ph type="title"/>
          </p:nvPr>
        </p:nvSpPr>
        <p:spPr>
          <a:xfrm>
            <a:off x="3644768" y="508931"/>
            <a:ext cx="2749425" cy="800219"/>
          </a:xfrm>
        </p:spPr>
        <p:txBody>
          <a:bodyPr/>
          <a:lstStyle/>
          <a:p>
            <a:r>
              <a:rPr lang="en-IN" sz="2600" spc="-15" dirty="0"/>
              <a:t>I</a:t>
            </a:r>
            <a:r>
              <a:rPr lang="en-IN" sz="2600" dirty="0"/>
              <a:t>N</a:t>
            </a:r>
            <a:r>
              <a:rPr lang="en-IN" sz="2600" spc="-25" dirty="0"/>
              <a:t>T</a:t>
            </a:r>
            <a:r>
              <a:rPr lang="en-IN" sz="2600" dirty="0"/>
              <a:t>R</a:t>
            </a:r>
            <a:r>
              <a:rPr lang="en-IN" sz="2600" spc="-20" dirty="0"/>
              <a:t>O</a:t>
            </a:r>
            <a:r>
              <a:rPr lang="en-IN" sz="2600" dirty="0"/>
              <a:t>D</a:t>
            </a:r>
            <a:r>
              <a:rPr lang="en-IN" sz="2600" spc="-15" dirty="0"/>
              <a:t>U</a:t>
            </a:r>
            <a:r>
              <a:rPr lang="en-IN" sz="2600" dirty="0"/>
              <a:t>C</a:t>
            </a:r>
            <a:r>
              <a:rPr lang="en-IN" sz="2600" spc="-25" dirty="0"/>
              <a:t>T</a:t>
            </a:r>
            <a:r>
              <a:rPr lang="en-IN" sz="2600" spc="-15" dirty="0"/>
              <a:t>IO</a:t>
            </a:r>
            <a:r>
              <a:rPr lang="en-IN" sz="2600" dirty="0"/>
              <a:t>N</a:t>
            </a:r>
          </a:p>
        </p:txBody>
      </p:sp>
      <p:sp>
        <p:nvSpPr>
          <p:cNvPr id="3" name="Text Placeholder 2">
            <a:extLst>
              <a:ext uri="{FF2B5EF4-FFF2-40B4-BE49-F238E27FC236}">
                <a16:creationId xmlns:a16="http://schemas.microsoft.com/office/drawing/2014/main" id="{2871B4C3-7D37-7FFA-50C3-6E283A2E25C1}"/>
              </a:ext>
            </a:extLst>
          </p:cNvPr>
          <p:cNvSpPr>
            <a:spLocks noGrp="1"/>
          </p:cNvSpPr>
          <p:nvPr>
            <p:ph type="body" idx="1"/>
          </p:nvPr>
        </p:nvSpPr>
        <p:spPr>
          <a:xfrm>
            <a:off x="609600" y="1275986"/>
            <a:ext cx="8839200" cy="5210465"/>
          </a:xfrm>
        </p:spPr>
        <p:txBody>
          <a:bodyPr/>
          <a:lstStyle/>
          <a:p>
            <a:pPr marL="342900" indent="-342900" algn="just">
              <a:lnSpc>
                <a:spcPct val="150000"/>
              </a:lnSpc>
              <a:buFont typeface="Wingdings" panose="05000000000000000000" pitchFamily="2" charset="2"/>
              <a:buChar char="§"/>
            </a:pPr>
            <a:r>
              <a:rPr lang="en-IN" sz="1900" dirty="0"/>
              <a:t>Skin cancer incidence is rising globally due to UV exposure and lifestyle changes, making early detection crucial. Even experienced dermatologists face challenges in distinguishing visually similar lesions, leading to potential misdiagnosis and treatment delays.</a:t>
            </a:r>
          </a:p>
          <a:p>
            <a:pPr marL="342900" indent="-342900" algn="just">
              <a:lnSpc>
                <a:spcPct val="150000"/>
              </a:lnSpc>
              <a:buFont typeface="Wingdings" panose="05000000000000000000" pitchFamily="2" charset="2"/>
              <a:buChar char="§"/>
            </a:pPr>
            <a:r>
              <a:rPr lang="en-US" sz="1900" dirty="0"/>
              <a:t>Advances in Machine Learning and Deep Learning, particularly Convolutional Neural Networks, enable automated image-based detection with remarkable accuracy. These technologies can identify malignant lesions early, significantly improving treatment success rates and potentially saving lives.</a:t>
            </a:r>
          </a:p>
          <a:p>
            <a:pPr marL="342900" indent="-342900" algn="just">
              <a:lnSpc>
                <a:spcPct val="150000"/>
              </a:lnSpc>
              <a:buFont typeface="Wingdings" panose="05000000000000000000" pitchFamily="2" charset="2"/>
              <a:buChar char="§"/>
            </a:pPr>
            <a:r>
              <a:rPr lang="en-US" sz="1900" dirty="0"/>
              <a:t>Our system integrates AI with a Flask-based web application, allowing instant skin image analysis and predictions. It provides Generative AI-powered medical recommendations and dermatologist connections, making expert-level preliminary screening accessible to everyone.</a:t>
            </a:r>
            <a:endParaRPr lang="en-IN" sz="1900" dirty="0"/>
          </a:p>
        </p:txBody>
      </p:sp>
      <p:sp>
        <p:nvSpPr>
          <p:cNvPr id="6" name="Slide Number Placeholder 5">
            <a:extLst>
              <a:ext uri="{FF2B5EF4-FFF2-40B4-BE49-F238E27FC236}">
                <a16:creationId xmlns:a16="http://schemas.microsoft.com/office/drawing/2014/main" id="{01B1417E-6B3B-22FD-89EC-1C2BCCC5B0C4}"/>
              </a:ext>
            </a:extLst>
          </p:cNvPr>
          <p:cNvSpPr>
            <a:spLocks noGrp="1"/>
          </p:cNvSpPr>
          <p:nvPr>
            <p:ph type="sldNum" sz="quarter" idx="7"/>
          </p:nvPr>
        </p:nvSpPr>
        <p:spPr>
          <a:xfrm>
            <a:off x="9126244" y="6934200"/>
            <a:ext cx="140334" cy="152400"/>
          </a:xfrm>
        </p:spPr>
        <p:txBody>
          <a:bodyPr/>
          <a:lstStyle/>
          <a:p>
            <a:pPr marL="38100">
              <a:lnSpc>
                <a:spcPts val="1045"/>
              </a:lnSpc>
            </a:pPr>
            <a:fld id="{81D60167-4931-47E6-BA6A-407CBD079E47}" type="slidenum">
              <a:rPr lang="en-IN" spc="-5" smtClean="0"/>
              <a:t>2</a:t>
            </a:fld>
            <a:endParaRPr lang="en-IN" spc="-5" dirty="0"/>
          </a:p>
        </p:txBody>
      </p:sp>
      <p:pic>
        <p:nvPicPr>
          <p:cNvPr id="7" name="object 5">
            <a:extLst>
              <a:ext uri="{FF2B5EF4-FFF2-40B4-BE49-F238E27FC236}">
                <a16:creationId xmlns:a16="http://schemas.microsoft.com/office/drawing/2014/main" id="{A7D4D7B7-F31B-BCB9-1C5F-94A72A01C3B5}"/>
              </a:ext>
            </a:extLst>
          </p:cNvPr>
          <p:cNvPicPr/>
          <p:nvPr/>
        </p:nvPicPr>
        <p:blipFill>
          <a:blip r:embed="rId2" cstate="print"/>
          <a:stretch>
            <a:fillRect/>
          </a:stretch>
        </p:blipFill>
        <p:spPr>
          <a:xfrm>
            <a:off x="198640" y="388620"/>
            <a:ext cx="770089" cy="754380"/>
          </a:xfrm>
          <a:prstGeom prst="rect">
            <a:avLst/>
          </a:prstGeom>
        </p:spPr>
      </p:pic>
      <p:pic>
        <p:nvPicPr>
          <p:cNvPr id="8" name="object 4">
            <a:extLst>
              <a:ext uri="{FF2B5EF4-FFF2-40B4-BE49-F238E27FC236}">
                <a16:creationId xmlns:a16="http://schemas.microsoft.com/office/drawing/2014/main" id="{76C3270D-41F3-982D-34DD-DBDC2FEA6FA9}"/>
              </a:ext>
            </a:extLst>
          </p:cNvPr>
          <p:cNvPicPr/>
          <p:nvPr/>
        </p:nvPicPr>
        <p:blipFill>
          <a:blip r:embed="rId3" cstate="print"/>
          <a:stretch>
            <a:fillRect/>
          </a:stretch>
        </p:blipFill>
        <p:spPr>
          <a:xfrm>
            <a:off x="8913876" y="499871"/>
            <a:ext cx="906779" cy="531876"/>
          </a:xfrm>
          <a:prstGeom prst="rect">
            <a:avLst/>
          </a:prstGeom>
        </p:spPr>
      </p:pic>
      <p:sp>
        <p:nvSpPr>
          <p:cNvPr id="9" name="Date Placeholder 8">
            <a:extLst>
              <a:ext uri="{FF2B5EF4-FFF2-40B4-BE49-F238E27FC236}">
                <a16:creationId xmlns:a16="http://schemas.microsoft.com/office/drawing/2014/main" id="{75572F5D-ABF8-69B2-8A79-EE39795DB895}"/>
              </a:ext>
            </a:extLst>
          </p:cNvPr>
          <p:cNvSpPr>
            <a:spLocks noGrp="1"/>
          </p:cNvSpPr>
          <p:nvPr>
            <p:ph type="dt" sz="half" idx="6"/>
          </p:nvPr>
        </p:nvSpPr>
        <p:spPr>
          <a:xfrm>
            <a:off x="671549" y="6934200"/>
            <a:ext cx="594360" cy="152400"/>
          </a:xfrm>
        </p:spPr>
        <p:txBody>
          <a:bodyPr/>
          <a:lstStyle/>
          <a:p>
            <a:pPr marL="12700">
              <a:lnSpc>
                <a:spcPts val="1045"/>
              </a:lnSpc>
            </a:pPr>
            <a:r>
              <a:rPr lang="en-US" spc="-25"/>
              <a:t>28-04-2025</a:t>
            </a:r>
            <a:endParaRPr lang="en-US" spc="-25" dirty="0"/>
          </a:p>
        </p:txBody>
      </p:sp>
      <p:sp>
        <p:nvSpPr>
          <p:cNvPr id="10" name="Footer Placeholder 9">
            <a:extLst>
              <a:ext uri="{FF2B5EF4-FFF2-40B4-BE49-F238E27FC236}">
                <a16:creationId xmlns:a16="http://schemas.microsoft.com/office/drawing/2014/main" id="{BF1EF8D5-0E53-FF1A-328A-CCA45D432436}"/>
              </a:ext>
            </a:extLst>
          </p:cNvPr>
          <p:cNvSpPr>
            <a:spLocks noGrp="1"/>
          </p:cNvSpPr>
          <p:nvPr>
            <p:ph type="ftr" sz="quarter" idx="5"/>
          </p:nvPr>
        </p:nvSpPr>
        <p:spPr>
          <a:xfrm>
            <a:off x="3962400" y="6934200"/>
            <a:ext cx="2431793" cy="228600"/>
          </a:xfrm>
        </p:spPr>
        <p:txBody>
          <a:bodyPr/>
          <a:lstStyle/>
          <a:p>
            <a:pPr marL="12700">
              <a:lnSpc>
                <a:spcPts val="1045"/>
              </a:lnSpc>
            </a:pPr>
            <a:r>
              <a:rPr lang="en-US" spc="-25" dirty="0"/>
              <a:t>SNSCT/CSE/Project/NCAIDIET'25_Conference</a:t>
            </a:r>
            <a:endParaRPr lang="en-US" spc="-5" dirty="0"/>
          </a:p>
        </p:txBody>
      </p:sp>
    </p:spTree>
    <p:extLst>
      <p:ext uri="{BB962C8B-B14F-4D97-AF65-F5344CB8AC3E}">
        <p14:creationId xmlns:p14="http://schemas.microsoft.com/office/powerpoint/2010/main" val="282158510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C0387-EE80-E6D0-F3AE-FA50F8D5D2A5}"/>
              </a:ext>
            </a:extLst>
          </p:cNvPr>
          <p:cNvSpPr>
            <a:spLocks noGrp="1"/>
          </p:cNvSpPr>
          <p:nvPr>
            <p:ph type="title"/>
          </p:nvPr>
        </p:nvSpPr>
        <p:spPr>
          <a:xfrm>
            <a:off x="3184239" y="622341"/>
            <a:ext cx="3883595" cy="400110"/>
          </a:xfrm>
        </p:spPr>
        <p:txBody>
          <a:bodyPr/>
          <a:lstStyle/>
          <a:p>
            <a:r>
              <a:rPr lang="en-US" sz="2600" dirty="0"/>
              <a:t>PROBLEM STATEMENT</a:t>
            </a:r>
            <a:endParaRPr lang="en-IN" sz="2600" dirty="0"/>
          </a:p>
        </p:txBody>
      </p:sp>
      <p:sp>
        <p:nvSpPr>
          <p:cNvPr id="3" name="Text Placeholder 2">
            <a:extLst>
              <a:ext uri="{FF2B5EF4-FFF2-40B4-BE49-F238E27FC236}">
                <a16:creationId xmlns:a16="http://schemas.microsoft.com/office/drawing/2014/main" id="{465620F2-B4A3-5A56-0486-DD89A61051D8}"/>
              </a:ext>
            </a:extLst>
          </p:cNvPr>
          <p:cNvSpPr>
            <a:spLocks noGrp="1"/>
          </p:cNvSpPr>
          <p:nvPr>
            <p:ph type="body" idx="1"/>
          </p:nvPr>
        </p:nvSpPr>
        <p:spPr>
          <a:xfrm>
            <a:off x="732245" y="1219200"/>
            <a:ext cx="8716467" cy="5978560"/>
          </a:xfrm>
        </p:spPr>
        <p:txBody>
          <a:bodyPr/>
          <a:lstStyle/>
          <a:p>
            <a:pPr marL="342900" indent="-342900">
              <a:lnSpc>
                <a:spcPct val="150000"/>
              </a:lnSpc>
              <a:buFont typeface="Wingdings" panose="05000000000000000000" pitchFamily="2" charset="2"/>
              <a:buChar char="§"/>
            </a:pPr>
            <a:r>
              <a:rPr lang="en-US" sz="1900" dirty="0"/>
              <a:t>People struggle to identify skin cancer early because it's hard to tell dangerous spots from harmless ones as most cannot distinguish between regular moles and potentially dangerous lesions, leading to either unnecessary panic or dangerous neglect of early warning signs.</a:t>
            </a:r>
          </a:p>
          <a:p>
            <a:pPr marL="342900" indent="-342900">
              <a:lnSpc>
                <a:spcPct val="150000"/>
              </a:lnSpc>
              <a:buFont typeface="Wingdings" panose="05000000000000000000" pitchFamily="2" charset="2"/>
              <a:buChar char="§"/>
            </a:pPr>
            <a:r>
              <a:rPr lang="en-US" sz="1900" dirty="0"/>
              <a:t>Getting expert medical help takes too long and is difficult to access as specialist appointments often require weeks of waiting, and many rural areas have no dermatologists available nearby.</a:t>
            </a:r>
          </a:p>
          <a:p>
            <a:pPr marL="342900" indent="-342900">
              <a:lnSpc>
                <a:spcPct val="150000"/>
              </a:lnSpc>
              <a:buFont typeface="Wingdings" panose="05000000000000000000" pitchFamily="2" charset="2"/>
              <a:buChar char="§"/>
            </a:pPr>
            <a:r>
              <a:rPr lang="en-US" sz="1900" dirty="0"/>
              <a:t>Patients feel scared and confused when they notice skin changes because they experience anxiety not knowing if a spot is dangerous, and often delay seeking help due to fear or uncertainty about the seriousness.</a:t>
            </a:r>
          </a:p>
          <a:p>
            <a:pPr marL="342900" indent="-342900">
              <a:lnSpc>
                <a:spcPct val="150000"/>
              </a:lnSpc>
              <a:buFont typeface="Wingdings" panose="05000000000000000000" pitchFamily="2" charset="2"/>
              <a:buChar char="§"/>
            </a:pPr>
            <a:r>
              <a:rPr lang="en-US" sz="1900" dirty="0"/>
              <a:t>The system creates dangerous delays in diagnosis and treatment like critical waiting periods allow potential cancers to progress, making them harder to treat successfully when finally detected.</a:t>
            </a:r>
          </a:p>
          <a:p>
            <a:endParaRPr lang="en-IN" dirty="0"/>
          </a:p>
        </p:txBody>
      </p:sp>
      <p:sp>
        <p:nvSpPr>
          <p:cNvPr id="6" name="Slide Number Placeholder 5">
            <a:extLst>
              <a:ext uri="{FF2B5EF4-FFF2-40B4-BE49-F238E27FC236}">
                <a16:creationId xmlns:a16="http://schemas.microsoft.com/office/drawing/2014/main" id="{2CE2445B-2E5D-CA37-67DD-7745A955894A}"/>
              </a:ext>
            </a:extLst>
          </p:cNvPr>
          <p:cNvSpPr>
            <a:spLocks noGrp="1"/>
          </p:cNvSpPr>
          <p:nvPr>
            <p:ph type="sldNum" sz="quarter" idx="7"/>
          </p:nvPr>
        </p:nvSpPr>
        <p:spPr>
          <a:xfrm>
            <a:off x="9185821" y="6963522"/>
            <a:ext cx="140334" cy="152400"/>
          </a:xfrm>
        </p:spPr>
        <p:txBody>
          <a:bodyPr/>
          <a:lstStyle/>
          <a:p>
            <a:pPr marL="38100">
              <a:lnSpc>
                <a:spcPts val="1045"/>
              </a:lnSpc>
            </a:pPr>
            <a:fld id="{81D60167-4931-47E6-BA6A-407CBD079E47}" type="slidenum">
              <a:rPr lang="en-IN" spc="-5" smtClean="0"/>
              <a:t>3</a:t>
            </a:fld>
            <a:endParaRPr lang="en-IN" spc="-5" dirty="0"/>
          </a:p>
        </p:txBody>
      </p:sp>
      <p:pic>
        <p:nvPicPr>
          <p:cNvPr id="7" name="object 5">
            <a:extLst>
              <a:ext uri="{FF2B5EF4-FFF2-40B4-BE49-F238E27FC236}">
                <a16:creationId xmlns:a16="http://schemas.microsoft.com/office/drawing/2014/main" id="{4C1CEA6D-B4D8-E384-0874-54F8459CFBE5}"/>
              </a:ext>
            </a:extLst>
          </p:cNvPr>
          <p:cNvPicPr/>
          <p:nvPr/>
        </p:nvPicPr>
        <p:blipFill>
          <a:blip r:embed="rId2" cstate="print"/>
          <a:stretch>
            <a:fillRect/>
          </a:stretch>
        </p:blipFill>
        <p:spPr>
          <a:xfrm>
            <a:off x="76200" y="122681"/>
            <a:ext cx="770089" cy="754380"/>
          </a:xfrm>
          <a:prstGeom prst="rect">
            <a:avLst/>
          </a:prstGeom>
        </p:spPr>
      </p:pic>
      <p:pic>
        <p:nvPicPr>
          <p:cNvPr id="8" name="object 4">
            <a:extLst>
              <a:ext uri="{FF2B5EF4-FFF2-40B4-BE49-F238E27FC236}">
                <a16:creationId xmlns:a16="http://schemas.microsoft.com/office/drawing/2014/main" id="{18934DA7-0DA0-8462-D574-AF5247678672}"/>
              </a:ext>
            </a:extLst>
          </p:cNvPr>
          <p:cNvPicPr/>
          <p:nvPr/>
        </p:nvPicPr>
        <p:blipFill>
          <a:blip r:embed="rId3" cstate="print"/>
          <a:stretch>
            <a:fillRect/>
          </a:stretch>
        </p:blipFill>
        <p:spPr>
          <a:xfrm>
            <a:off x="8934043" y="141010"/>
            <a:ext cx="906779" cy="531876"/>
          </a:xfrm>
          <a:prstGeom prst="rect">
            <a:avLst/>
          </a:prstGeom>
        </p:spPr>
      </p:pic>
      <p:sp>
        <p:nvSpPr>
          <p:cNvPr id="9" name="Date Placeholder 8">
            <a:extLst>
              <a:ext uri="{FF2B5EF4-FFF2-40B4-BE49-F238E27FC236}">
                <a16:creationId xmlns:a16="http://schemas.microsoft.com/office/drawing/2014/main" id="{F79F0811-EC85-0001-DB5D-84397C2A7560}"/>
              </a:ext>
            </a:extLst>
          </p:cNvPr>
          <p:cNvSpPr>
            <a:spLocks noGrp="1"/>
          </p:cNvSpPr>
          <p:nvPr>
            <p:ph type="dt" sz="half" idx="6"/>
          </p:nvPr>
        </p:nvSpPr>
        <p:spPr>
          <a:xfrm>
            <a:off x="670965" y="7020171"/>
            <a:ext cx="594360" cy="152400"/>
          </a:xfrm>
        </p:spPr>
        <p:txBody>
          <a:bodyPr/>
          <a:lstStyle/>
          <a:p>
            <a:pPr marL="12700">
              <a:lnSpc>
                <a:spcPts val="1045"/>
              </a:lnSpc>
            </a:pPr>
            <a:r>
              <a:rPr lang="en-US" spc="-25"/>
              <a:t>28-04-2025</a:t>
            </a:r>
            <a:endParaRPr lang="en-US" spc="-25" dirty="0"/>
          </a:p>
        </p:txBody>
      </p:sp>
      <p:sp>
        <p:nvSpPr>
          <p:cNvPr id="10" name="Footer Placeholder 9">
            <a:extLst>
              <a:ext uri="{FF2B5EF4-FFF2-40B4-BE49-F238E27FC236}">
                <a16:creationId xmlns:a16="http://schemas.microsoft.com/office/drawing/2014/main" id="{CEA08F54-E924-26F2-C49D-DFA6B321D180}"/>
              </a:ext>
            </a:extLst>
          </p:cNvPr>
          <p:cNvSpPr>
            <a:spLocks noGrp="1"/>
          </p:cNvSpPr>
          <p:nvPr>
            <p:ph type="ftr" sz="quarter" idx="5"/>
          </p:nvPr>
        </p:nvSpPr>
        <p:spPr>
          <a:xfrm>
            <a:off x="4094160" y="6997658"/>
            <a:ext cx="2382840" cy="241341"/>
          </a:xfrm>
        </p:spPr>
        <p:txBody>
          <a:bodyPr/>
          <a:lstStyle/>
          <a:p>
            <a:pPr marL="12700">
              <a:lnSpc>
                <a:spcPts val="1045"/>
              </a:lnSpc>
            </a:pPr>
            <a:r>
              <a:rPr lang="en-US" spc="-25" dirty="0"/>
              <a:t>SNSCT/CSE/Project/NCAIDIET'25_Conference</a:t>
            </a:r>
            <a:endParaRPr lang="en-US" spc="-5" dirty="0"/>
          </a:p>
        </p:txBody>
      </p:sp>
    </p:spTree>
    <p:extLst>
      <p:ext uri="{BB962C8B-B14F-4D97-AF65-F5344CB8AC3E}">
        <p14:creationId xmlns:p14="http://schemas.microsoft.com/office/powerpoint/2010/main" val="394416432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78F3B-7BA5-A105-7E27-048F995DD7F7}"/>
              </a:ext>
            </a:extLst>
          </p:cNvPr>
          <p:cNvSpPr>
            <a:spLocks noGrp="1"/>
          </p:cNvSpPr>
          <p:nvPr>
            <p:ph type="title"/>
          </p:nvPr>
        </p:nvSpPr>
        <p:spPr>
          <a:xfrm>
            <a:off x="3307586" y="304800"/>
            <a:ext cx="4083813" cy="800219"/>
          </a:xfrm>
        </p:spPr>
        <p:txBody>
          <a:bodyPr/>
          <a:lstStyle/>
          <a:p>
            <a:r>
              <a:rPr lang="en-IN" sz="2600" dirty="0"/>
              <a:t>LITERATURE SURVEY</a:t>
            </a:r>
          </a:p>
        </p:txBody>
      </p:sp>
      <p:sp>
        <p:nvSpPr>
          <p:cNvPr id="6" name="Slide Number Placeholder 5">
            <a:extLst>
              <a:ext uri="{FF2B5EF4-FFF2-40B4-BE49-F238E27FC236}">
                <a16:creationId xmlns:a16="http://schemas.microsoft.com/office/drawing/2014/main" id="{1CF38040-EC7C-4C3B-5521-E332278B51BE}"/>
              </a:ext>
            </a:extLst>
          </p:cNvPr>
          <p:cNvSpPr>
            <a:spLocks noGrp="1"/>
          </p:cNvSpPr>
          <p:nvPr>
            <p:ph type="sldNum" sz="quarter" idx="7"/>
          </p:nvPr>
        </p:nvSpPr>
        <p:spPr>
          <a:xfrm>
            <a:off x="9144000" y="7081520"/>
            <a:ext cx="140334" cy="152400"/>
          </a:xfrm>
        </p:spPr>
        <p:txBody>
          <a:bodyPr/>
          <a:lstStyle/>
          <a:p>
            <a:pPr marL="38100">
              <a:lnSpc>
                <a:spcPts val="1045"/>
              </a:lnSpc>
            </a:pPr>
            <a:fld id="{81D60167-4931-47E6-BA6A-407CBD079E47}" type="slidenum">
              <a:rPr lang="en-IN" spc="-5" smtClean="0"/>
              <a:t>4</a:t>
            </a:fld>
            <a:endParaRPr lang="en-IN" spc="-5" dirty="0"/>
          </a:p>
        </p:txBody>
      </p:sp>
      <p:pic>
        <p:nvPicPr>
          <p:cNvPr id="7" name="object 5">
            <a:extLst>
              <a:ext uri="{FF2B5EF4-FFF2-40B4-BE49-F238E27FC236}">
                <a16:creationId xmlns:a16="http://schemas.microsoft.com/office/drawing/2014/main" id="{206E879E-D459-F479-8F39-75610542246E}"/>
              </a:ext>
            </a:extLst>
          </p:cNvPr>
          <p:cNvPicPr/>
          <p:nvPr/>
        </p:nvPicPr>
        <p:blipFill>
          <a:blip r:embed="rId2" cstate="print"/>
          <a:stretch>
            <a:fillRect/>
          </a:stretch>
        </p:blipFill>
        <p:spPr>
          <a:xfrm>
            <a:off x="144311" y="150584"/>
            <a:ext cx="770089" cy="754380"/>
          </a:xfrm>
          <a:prstGeom prst="rect">
            <a:avLst/>
          </a:prstGeom>
        </p:spPr>
      </p:pic>
      <p:pic>
        <p:nvPicPr>
          <p:cNvPr id="8" name="object 4">
            <a:extLst>
              <a:ext uri="{FF2B5EF4-FFF2-40B4-BE49-F238E27FC236}">
                <a16:creationId xmlns:a16="http://schemas.microsoft.com/office/drawing/2014/main" id="{6343002D-6EB2-9ED0-45B0-9F82860146E0}"/>
              </a:ext>
            </a:extLst>
          </p:cNvPr>
          <p:cNvPicPr/>
          <p:nvPr/>
        </p:nvPicPr>
        <p:blipFill>
          <a:blip r:embed="rId3" cstate="print"/>
          <a:stretch>
            <a:fillRect/>
          </a:stretch>
        </p:blipFill>
        <p:spPr>
          <a:xfrm>
            <a:off x="8934043" y="141010"/>
            <a:ext cx="906779" cy="531876"/>
          </a:xfrm>
          <a:prstGeom prst="rect">
            <a:avLst/>
          </a:prstGeom>
        </p:spPr>
      </p:pic>
      <p:graphicFrame>
        <p:nvGraphicFramePr>
          <p:cNvPr id="9" name="Table 8">
            <a:extLst>
              <a:ext uri="{FF2B5EF4-FFF2-40B4-BE49-F238E27FC236}">
                <a16:creationId xmlns:a16="http://schemas.microsoft.com/office/drawing/2014/main" id="{336637F6-319D-7B1D-FC38-38352F02EEA4}"/>
              </a:ext>
            </a:extLst>
          </p:cNvPr>
          <p:cNvGraphicFramePr>
            <a:graphicFrameLocks noGrp="1"/>
          </p:cNvGraphicFramePr>
          <p:nvPr>
            <p:extLst>
              <p:ext uri="{D42A27DB-BD31-4B8C-83A1-F6EECF244321}">
                <p14:modId xmlns:p14="http://schemas.microsoft.com/office/powerpoint/2010/main" val="389807321"/>
              </p:ext>
            </p:extLst>
          </p:nvPr>
        </p:nvGraphicFramePr>
        <p:xfrm>
          <a:off x="539515" y="1600200"/>
          <a:ext cx="9097464" cy="4300220"/>
        </p:xfrm>
        <a:graphic>
          <a:graphicData uri="http://schemas.openxmlformats.org/drawingml/2006/table">
            <a:tbl>
              <a:tblPr firstRow="1" bandRow="1">
                <a:tableStyleId>{D7AC3CCA-C797-4891-BE02-D94E43425B78}</a:tableStyleId>
              </a:tblPr>
              <a:tblGrid>
                <a:gridCol w="639268">
                  <a:extLst>
                    <a:ext uri="{9D8B030D-6E8A-4147-A177-3AD203B41FA5}">
                      <a16:colId xmlns:a16="http://schemas.microsoft.com/office/drawing/2014/main" val="1572076952"/>
                    </a:ext>
                  </a:extLst>
                </a:gridCol>
                <a:gridCol w="1981200">
                  <a:extLst>
                    <a:ext uri="{9D8B030D-6E8A-4147-A177-3AD203B41FA5}">
                      <a16:colId xmlns:a16="http://schemas.microsoft.com/office/drawing/2014/main" val="272003633"/>
                    </a:ext>
                  </a:extLst>
                </a:gridCol>
                <a:gridCol w="1295400">
                  <a:extLst>
                    <a:ext uri="{9D8B030D-6E8A-4147-A177-3AD203B41FA5}">
                      <a16:colId xmlns:a16="http://schemas.microsoft.com/office/drawing/2014/main" val="2501578597"/>
                    </a:ext>
                  </a:extLst>
                </a:gridCol>
                <a:gridCol w="1600200">
                  <a:extLst>
                    <a:ext uri="{9D8B030D-6E8A-4147-A177-3AD203B41FA5}">
                      <a16:colId xmlns:a16="http://schemas.microsoft.com/office/drawing/2014/main" val="1195018054"/>
                    </a:ext>
                  </a:extLst>
                </a:gridCol>
                <a:gridCol w="1828800">
                  <a:extLst>
                    <a:ext uri="{9D8B030D-6E8A-4147-A177-3AD203B41FA5}">
                      <a16:colId xmlns:a16="http://schemas.microsoft.com/office/drawing/2014/main" val="2341279884"/>
                    </a:ext>
                  </a:extLst>
                </a:gridCol>
                <a:gridCol w="1752596">
                  <a:extLst>
                    <a:ext uri="{9D8B030D-6E8A-4147-A177-3AD203B41FA5}">
                      <a16:colId xmlns:a16="http://schemas.microsoft.com/office/drawing/2014/main" val="3462861664"/>
                    </a:ext>
                  </a:extLst>
                </a:gridCol>
              </a:tblGrid>
              <a:tr h="721360">
                <a:tc>
                  <a:txBody>
                    <a:bodyPr/>
                    <a:lstStyle/>
                    <a:p>
                      <a:r>
                        <a:rPr lang="en-IN" sz="1800" b="1" dirty="0">
                          <a:latin typeface="Times New Roman" panose="02020603050405020304" pitchFamily="18" charset="0"/>
                          <a:cs typeface="Times New Roman" panose="02020603050405020304" pitchFamily="18" charset="0"/>
                        </a:rPr>
                        <a:t>S no</a:t>
                      </a:r>
                    </a:p>
                  </a:txBody>
                  <a:tcPr anchor="ctr"/>
                </a:tc>
                <a:tc>
                  <a:txBody>
                    <a:bodyPr/>
                    <a:lstStyle/>
                    <a:p>
                      <a:r>
                        <a:rPr lang="en-IN" sz="1800" b="1" i="0" dirty="0">
                          <a:solidFill>
                            <a:schemeClr val="dk1"/>
                          </a:solidFill>
                          <a:effectLst/>
                          <a:latin typeface="Times New Roman" panose="02020603050405020304" pitchFamily="18" charset="0"/>
                          <a:ea typeface="+mn-ea"/>
                          <a:cs typeface="Times New Roman" panose="02020603050405020304" pitchFamily="18" charset="0"/>
                        </a:rPr>
                        <a:t>Title / Focus Area</a:t>
                      </a:r>
                      <a:endParaRPr lang="en-IN" sz="1800" b="1" dirty="0">
                        <a:latin typeface="Times New Roman" panose="02020603050405020304" pitchFamily="18" charset="0"/>
                        <a:cs typeface="Times New Roman" panose="02020603050405020304" pitchFamily="18" charset="0"/>
                      </a:endParaRPr>
                    </a:p>
                  </a:txBody>
                  <a:tcPr anchor="ctr"/>
                </a:tc>
                <a:tc>
                  <a:txBody>
                    <a:bodyPr/>
                    <a:lstStyle/>
                    <a:p>
                      <a:r>
                        <a:rPr lang="en-IN" sz="1800" b="1" i="0" dirty="0">
                          <a:solidFill>
                            <a:schemeClr val="dk1"/>
                          </a:solidFill>
                          <a:effectLst/>
                          <a:latin typeface="Times New Roman" panose="02020603050405020304" pitchFamily="18" charset="0"/>
                          <a:ea typeface="+mn-ea"/>
                          <a:cs typeface="Times New Roman" panose="02020603050405020304" pitchFamily="18" charset="0"/>
                        </a:rPr>
                        <a:t>Author(s) &amp; Year</a:t>
                      </a:r>
                      <a:endParaRPr lang="en-IN" sz="1800" b="1" dirty="0">
                        <a:latin typeface="Times New Roman" panose="02020603050405020304" pitchFamily="18" charset="0"/>
                        <a:cs typeface="Times New Roman" panose="02020603050405020304" pitchFamily="18" charset="0"/>
                      </a:endParaRPr>
                    </a:p>
                  </a:txBody>
                  <a:tcPr anchor="ctr"/>
                </a:tc>
                <a:tc>
                  <a:txBody>
                    <a:bodyPr/>
                    <a:lstStyle/>
                    <a:p>
                      <a:pPr algn="ctr"/>
                      <a:r>
                        <a:rPr lang="en-IN" sz="1800" b="1" i="0" dirty="0">
                          <a:solidFill>
                            <a:schemeClr val="dk1"/>
                          </a:solidFill>
                          <a:effectLst/>
                          <a:latin typeface="Times New Roman" panose="02020603050405020304" pitchFamily="18" charset="0"/>
                          <a:ea typeface="+mn-ea"/>
                          <a:cs typeface="Times New Roman" panose="02020603050405020304" pitchFamily="18" charset="0"/>
                        </a:rPr>
                        <a:t>Technologies Used</a:t>
                      </a:r>
                      <a:endParaRPr lang="en-IN" sz="1800" b="1" dirty="0">
                        <a:latin typeface="Times New Roman" panose="02020603050405020304" pitchFamily="18" charset="0"/>
                        <a:cs typeface="Times New Roman" panose="02020603050405020304" pitchFamily="18" charset="0"/>
                      </a:endParaRPr>
                    </a:p>
                  </a:txBody>
                  <a:tcPr anchor="ctr"/>
                </a:tc>
                <a:tc>
                  <a:txBody>
                    <a:bodyPr/>
                    <a:lstStyle/>
                    <a:p>
                      <a:r>
                        <a:rPr lang="en-IN" sz="1800" b="1" i="0" dirty="0">
                          <a:solidFill>
                            <a:schemeClr val="dk1"/>
                          </a:solidFill>
                          <a:effectLst/>
                          <a:latin typeface="Times New Roman" panose="02020603050405020304" pitchFamily="18" charset="0"/>
                          <a:ea typeface="+mn-ea"/>
                          <a:cs typeface="Times New Roman" panose="02020603050405020304" pitchFamily="18" charset="0"/>
                        </a:rPr>
                        <a:t>Methodologies</a:t>
                      </a:r>
                      <a:endParaRPr lang="en-IN" sz="1800" b="1" dirty="0">
                        <a:latin typeface="Times New Roman" panose="02020603050405020304" pitchFamily="18" charset="0"/>
                        <a:cs typeface="Times New Roman" panose="02020603050405020304" pitchFamily="18" charset="0"/>
                      </a:endParaRPr>
                    </a:p>
                  </a:txBody>
                  <a:tcPr anchor="ctr"/>
                </a:tc>
                <a:tc>
                  <a:txBody>
                    <a:bodyPr/>
                    <a:lstStyle/>
                    <a:p>
                      <a:pPr algn="l">
                        <a:lnSpc>
                          <a:spcPts val="1875"/>
                        </a:lnSpc>
                        <a:buNone/>
                      </a:pPr>
                      <a:r>
                        <a:rPr lang="en-IN" sz="1800" b="1" dirty="0">
                          <a:effectLst/>
                          <a:latin typeface="Times New Roman" panose="02020603050405020304" pitchFamily="18" charset="0"/>
                          <a:cs typeface="Times New Roman" panose="02020603050405020304" pitchFamily="18" charset="0"/>
                        </a:rPr>
                        <a:t>Limitations</a:t>
                      </a:r>
                    </a:p>
                  </a:txBody>
                  <a:tcPr marL="121920" marR="121920" marT="76200" marB="76200" anchor="ctr"/>
                </a:tc>
                <a:extLst>
                  <a:ext uri="{0D108BD9-81ED-4DB2-BD59-A6C34878D82A}">
                    <a16:rowId xmlns:a16="http://schemas.microsoft.com/office/drawing/2014/main" val="181461234"/>
                  </a:ext>
                </a:extLst>
              </a:tr>
              <a:tr h="370840">
                <a:tc>
                  <a:txBody>
                    <a:bodyPr/>
                    <a:lstStyle/>
                    <a:p>
                      <a:r>
                        <a:rPr lang="en-IN" sz="1800" dirty="0">
                          <a:latin typeface="Times New Roman" panose="02020603050405020304" pitchFamily="18" charset="0"/>
                          <a:cs typeface="Times New Roman" panose="02020603050405020304" pitchFamily="18" charset="0"/>
                        </a:rPr>
                        <a:t>1</a:t>
                      </a:r>
                    </a:p>
                  </a:txBody>
                  <a:tcPr anchor="ctr"/>
                </a:tc>
                <a:tc>
                  <a:txBody>
                    <a:bodyPr/>
                    <a:lstStyle/>
                    <a:p>
                      <a:r>
                        <a:rPr lang="en-US" sz="1800" b="0" i="0" dirty="0">
                          <a:solidFill>
                            <a:schemeClr val="dk1"/>
                          </a:solidFill>
                          <a:effectLst/>
                          <a:latin typeface="Times New Roman" panose="02020603050405020304" pitchFamily="18" charset="0"/>
                          <a:ea typeface="+mn-ea"/>
                          <a:cs typeface="Times New Roman" panose="02020603050405020304" pitchFamily="18" charset="0"/>
                        </a:rPr>
                        <a:t>Dermatologist-Level Classification of Skin Cancer</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a:r>
                        <a:rPr lang="en-IN" sz="1800" b="0" i="0" dirty="0">
                          <a:solidFill>
                            <a:schemeClr val="dk1"/>
                          </a:solidFill>
                          <a:effectLst/>
                          <a:latin typeface="Times New Roman" panose="02020603050405020304" pitchFamily="18" charset="0"/>
                          <a:ea typeface="+mn-ea"/>
                          <a:cs typeface="Times New Roman" panose="02020603050405020304" pitchFamily="18" charset="0"/>
                        </a:rPr>
                        <a:t>Esteva et al. (2017)</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a:r>
                        <a:rPr lang="en-IN" sz="1800" b="0" i="0" dirty="0">
                          <a:solidFill>
                            <a:schemeClr val="dk1"/>
                          </a:solidFill>
                          <a:effectLst/>
                          <a:latin typeface="Times New Roman" panose="02020603050405020304" pitchFamily="18" charset="0"/>
                          <a:ea typeface="+mn-ea"/>
                          <a:cs typeface="Times New Roman" panose="02020603050405020304" pitchFamily="18" charset="0"/>
                        </a:rPr>
                        <a:t>CNNs, Deep Neural Networks</a:t>
                      </a:r>
                      <a:endParaRPr lang="en-IN" sz="1800" dirty="0">
                        <a:latin typeface="Times New Roman" panose="02020603050405020304" pitchFamily="18" charset="0"/>
                        <a:cs typeface="Times New Roman" panose="02020603050405020304" pitchFamily="18" charset="0"/>
                      </a:endParaRPr>
                    </a:p>
                  </a:txBody>
                  <a:tcPr anchor="ctr"/>
                </a:tc>
                <a:tc>
                  <a:txBody>
                    <a:bodyPr/>
                    <a:lstStyle/>
                    <a:p>
                      <a:r>
                        <a:rPr lang="en-US" sz="1800" b="0" i="0" dirty="0">
                          <a:solidFill>
                            <a:schemeClr val="dk1"/>
                          </a:solidFill>
                          <a:effectLst/>
                          <a:latin typeface="Times New Roman" panose="02020603050405020304" pitchFamily="18" charset="0"/>
                          <a:ea typeface="+mn-ea"/>
                          <a:cs typeface="Times New Roman" panose="02020603050405020304" pitchFamily="18" charset="0"/>
                        </a:rPr>
                        <a:t>Used convolutional neural networks for image-based classification of skin lesions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lnSpc>
                          <a:spcPts val="1875"/>
                        </a:lnSpc>
                        <a:buNone/>
                      </a:pPr>
                      <a:r>
                        <a:rPr lang="en-US" sz="1800" b="0" i="0" dirty="0">
                          <a:solidFill>
                            <a:schemeClr val="dk1"/>
                          </a:solidFill>
                          <a:effectLst/>
                          <a:latin typeface="Times New Roman" panose="02020603050405020304" pitchFamily="18" charset="0"/>
                          <a:ea typeface="+mn-ea"/>
                          <a:cs typeface="Times New Roman" panose="02020603050405020304" pitchFamily="18" charset="0"/>
                        </a:rPr>
                        <a:t>Limited to specific types of lesions; required large computational resources</a:t>
                      </a:r>
                      <a:endParaRPr lang="en-IN" sz="1800" b="0" dirty="0">
                        <a:effectLst/>
                        <a:latin typeface="Times New Roman" panose="02020603050405020304" pitchFamily="18" charset="0"/>
                        <a:cs typeface="Times New Roman" panose="02020603050405020304" pitchFamily="18" charset="0"/>
                      </a:endParaRPr>
                    </a:p>
                  </a:txBody>
                  <a:tcPr marL="121920" marR="121920" marT="76200" marB="76200" anchor="ctr"/>
                </a:tc>
                <a:extLst>
                  <a:ext uri="{0D108BD9-81ED-4DB2-BD59-A6C34878D82A}">
                    <a16:rowId xmlns:a16="http://schemas.microsoft.com/office/drawing/2014/main" val="3759859112"/>
                  </a:ext>
                </a:extLst>
              </a:tr>
              <a:tr h="705740">
                <a:tc>
                  <a:txBody>
                    <a:bodyPr/>
                    <a:lstStyle/>
                    <a:p>
                      <a:r>
                        <a:rPr lang="en-IN" sz="1800" dirty="0">
                          <a:latin typeface="Times New Roman" panose="02020603050405020304" pitchFamily="18" charset="0"/>
                          <a:cs typeface="Times New Roman" panose="02020603050405020304" pitchFamily="18" charset="0"/>
                        </a:rPr>
                        <a:t>2</a:t>
                      </a:r>
                    </a:p>
                  </a:txBody>
                  <a:tcPr anchor="ctr"/>
                </a:tc>
                <a:tc>
                  <a:txBody>
                    <a:bodyPr/>
                    <a:lstStyle/>
                    <a:p>
                      <a:r>
                        <a:rPr lang="en-US" sz="1800" b="0" i="0" dirty="0">
                          <a:solidFill>
                            <a:schemeClr val="dk1"/>
                          </a:solidFill>
                          <a:effectLst/>
                          <a:latin typeface="+mn-lt"/>
                          <a:ea typeface="+mn-ea"/>
                          <a:cs typeface="+mn-cs"/>
                        </a:rPr>
                        <a:t>Deep Learning in </a:t>
                      </a:r>
                      <a:r>
                        <a:rPr lang="en-US" sz="1800" b="0" i="0" dirty="0" err="1">
                          <a:solidFill>
                            <a:schemeClr val="dk1"/>
                          </a:solidFill>
                          <a:effectLst/>
                          <a:latin typeface="+mn-lt"/>
                          <a:ea typeface="+mn-ea"/>
                          <a:cs typeface="+mn-cs"/>
                        </a:rPr>
                        <a:t>Dermoscopic</a:t>
                      </a:r>
                      <a:r>
                        <a:rPr lang="en-US" sz="1800" b="0" i="0" dirty="0">
                          <a:solidFill>
                            <a:schemeClr val="dk1"/>
                          </a:solidFill>
                          <a:effectLst/>
                          <a:latin typeface="+mn-lt"/>
                          <a:ea typeface="+mn-ea"/>
                          <a:cs typeface="+mn-cs"/>
                        </a:rPr>
                        <a:t> Image Classification</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a:r>
                        <a:rPr lang="en-IN" sz="1800" b="0" i="0" dirty="0">
                          <a:solidFill>
                            <a:schemeClr val="dk1"/>
                          </a:solidFill>
                          <a:effectLst/>
                          <a:latin typeface="+mn-lt"/>
                          <a:ea typeface="+mn-ea"/>
                          <a:cs typeface="+mn-cs"/>
                        </a:rPr>
                        <a:t>Brinker et al. (2019)</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0" i="0" dirty="0">
                          <a:solidFill>
                            <a:schemeClr val="dk1"/>
                          </a:solidFill>
                          <a:effectLst/>
                          <a:latin typeface="+mn-lt"/>
                          <a:ea typeface="+mn-ea"/>
                          <a:cs typeface="+mn-cs"/>
                        </a:rPr>
                        <a:t>Deep Learning Models, </a:t>
                      </a:r>
                      <a:r>
                        <a:rPr lang="en-US" sz="1800" b="0" i="0" dirty="0" err="1">
                          <a:solidFill>
                            <a:schemeClr val="dk1"/>
                          </a:solidFill>
                          <a:effectLst/>
                          <a:latin typeface="+mn-lt"/>
                          <a:ea typeface="+mn-ea"/>
                          <a:cs typeface="+mn-cs"/>
                        </a:rPr>
                        <a:t>Dermoscopic</a:t>
                      </a:r>
                      <a:r>
                        <a:rPr lang="en-US" sz="1800" b="0" i="0" dirty="0">
                          <a:solidFill>
                            <a:schemeClr val="dk1"/>
                          </a:solidFill>
                          <a:effectLst/>
                          <a:latin typeface="+mn-lt"/>
                          <a:ea typeface="+mn-ea"/>
                          <a:cs typeface="+mn-cs"/>
                        </a:rPr>
                        <a:t> Imaging</a:t>
                      </a:r>
                      <a:endParaRPr lang="en-IN" sz="1800" dirty="0">
                        <a:latin typeface="Times New Roman" panose="02020603050405020304" pitchFamily="18" charset="0"/>
                        <a:cs typeface="Times New Roman" panose="02020603050405020304" pitchFamily="18" charset="0"/>
                      </a:endParaRPr>
                    </a:p>
                  </a:txBody>
                  <a:tcPr anchor="ctr"/>
                </a:tc>
                <a:tc>
                  <a:txBody>
                    <a:bodyPr/>
                    <a:lstStyle/>
                    <a:p>
                      <a:r>
                        <a:rPr lang="en-US" sz="1800" b="0" i="0" dirty="0">
                          <a:solidFill>
                            <a:schemeClr val="dk1"/>
                          </a:solidFill>
                          <a:effectLst/>
                          <a:latin typeface="+mn-lt"/>
                          <a:ea typeface="+mn-ea"/>
                          <a:cs typeface="+mn-cs"/>
                        </a:rPr>
                        <a:t>Comparative study pitting DL models against dermatologists in image classification</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lnSpc>
                          <a:spcPts val="1875"/>
                        </a:lnSpc>
                        <a:buNone/>
                      </a:pPr>
                      <a:r>
                        <a:rPr lang="en-US" sz="1800" b="0" i="0" dirty="0">
                          <a:solidFill>
                            <a:schemeClr val="dk1"/>
                          </a:solidFill>
                          <a:effectLst/>
                          <a:latin typeface="+mn-lt"/>
                          <a:ea typeface="+mn-ea"/>
                          <a:cs typeface="+mn-cs"/>
                        </a:rPr>
                        <a:t>Real-world clinical validation still pending; dataset diversity concerns</a:t>
                      </a:r>
                      <a:endParaRPr lang="en-IN" sz="1800" b="0" dirty="0">
                        <a:effectLst/>
                        <a:latin typeface="Times New Roman" panose="02020603050405020304" pitchFamily="18" charset="0"/>
                        <a:cs typeface="Times New Roman" panose="02020603050405020304" pitchFamily="18" charset="0"/>
                      </a:endParaRPr>
                    </a:p>
                  </a:txBody>
                  <a:tcPr marL="121920" marR="121920" marT="76200" marB="76200" anchor="ctr"/>
                </a:tc>
                <a:extLst>
                  <a:ext uri="{0D108BD9-81ED-4DB2-BD59-A6C34878D82A}">
                    <a16:rowId xmlns:a16="http://schemas.microsoft.com/office/drawing/2014/main" val="3408904383"/>
                  </a:ext>
                </a:extLst>
              </a:tr>
            </a:tbl>
          </a:graphicData>
        </a:graphic>
      </p:graphicFrame>
      <p:sp>
        <p:nvSpPr>
          <p:cNvPr id="10" name="Date Placeholder 9">
            <a:extLst>
              <a:ext uri="{FF2B5EF4-FFF2-40B4-BE49-F238E27FC236}">
                <a16:creationId xmlns:a16="http://schemas.microsoft.com/office/drawing/2014/main" id="{E9BD30EF-DC9F-08EC-8E2C-17DD7A42AE95}"/>
              </a:ext>
            </a:extLst>
          </p:cNvPr>
          <p:cNvSpPr>
            <a:spLocks noGrp="1"/>
          </p:cNvSpPr>
          <p:nvPr>
            <p:ph type="dt" sz="half" idx="6"/>
          </p:nvPr>
        </p:nvSpPr>
        <p:spPr>
          <a:xfrm>
            <a:off x="617220" y="7086600"/>
            <a:ext cx="594360" cy="152400"/>
          </a:xfrm>
        </p:spPr>
        <p:txBody>
          <a:bodyPr/>
          <a:lstStyle/>
          <a:p>
            <a:pPr marL="12700">
              <a:lnSpc>
                <a:spcPts val="1045"/>
              </a:lnSpc>
            </a:pPr>
            <a:r>
              <a:rPr lang="en-US" spc="-25"/>
              <a:t>28-04-2025</a:t>
            </a:r>
            <a:endParaRPr lang="en-US" spc="-25" dirty="0"/>
          </a:p>
        </p:txBody>
      </p:sp>
      <p:sp>
        <p:nvSpPr>
          <p:cNvPr id="11" name="Footer Placeholder 10">
            <a:extLst>
              <a:ext uri="{FF2B5EF4-FFF2-40B4-BE49-F238E27FC236}">
                <a16:creationId xmlns:a16="http://schemas.microsoft.com/office/drawing/2014/main" id="{780E4A2A-84F2-FA1C-9CC4-BFA403F6C089}"/>
              </a:ext>
            </a:extLst>
          </p:cNvPr>
          <p:cNvSpPr>
            <a:spLocks noGrp="1"/>
          </p:cNvSpPr>
          <p:nvPr>
            <p:ph type="ftr" sz="quarter" idx="5"/>
          </p:nvPr>
        </p:nvSpPr>
        <p:spPr>
          <a:xfrm>
            <a:off x="3891970" y="7086600"/>
            <a:ext cx="2392554" cy="219876"/>
          </a:xfrm>
        </p:spPr>
        <p:txBody>
          <a:bodyPr/>
          <a:lstStyle/>
          <a:p>
            <a:pPr marL="12700">
              <a:lnSpc>
                <a:spcPts val="1045"/>
              </a:lnSpc>
            </a:pPr>
            <a:r>
              <a:rPr lang="en-US" spc="-25" dirty="0"/>
              <a:t>SNSCT/CSE/Project/NCAIDIET'25_Conference</a:t>
            </a:r>
            <a:endParaRPr lang="en-US" spc="-5" dirty="0"/>
          </a:p>
        </p:txBody>
      </p:sp>
    </p:spTree>
    <p:extLst>
      <p:ext uri="{BB962C8B-B14F-4D97-AF65-F5344CB8AC3E}">
        <p14:creationId xmlns:p14="http://schemas.microsoft.com/office/powerpoint/2010/main" val="412389859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C7D1C-90B0-A970-0D94-5A872E789D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FE30A7-257D-5F83-4E57-C120DEAD99D5}"/>
              </a:ext>
            </a:extLst>
          </p:cNvPr>
          <p:cNvSpPr>
            <a:spLocks noGrp="1"/>
          </p:cNvSpPr>
          <p:nvPr>
            <p:ph type="title"/>
          </p:nvPr>
        </p:nvSpPr>
        <p:spPr>
          <a:xfrm>
            <a:off x="3307586" y="304800"/>
            <a:ext cx="4083813" cy="800219"/>
          </a:xfrm>
        </p:spPr>
        <p:txBody>
          <a:bodyPr/>
          <a:lstStyle/>
          <a:p>
            <a:r>
              <a:rPr lang="en-IN" sz="2600" dirty="0"/>
              <a:t>LITERATURE SURVEY</a:t>
            </a:r>
          </a:p>
        </p:txBody>
      </p:sp>
      <p:sp>
        <p:nvSpPr>
          <p:cNvPr id="6" name="Slide Number Placeholder 5">
            <a:extLst>
              <a:ext uri="{FF2B5EF4-FFF2-40B4-BE49-F238E27FC236}">
                <a16:creationId xmlns:a16="http://schemas.microsoft.com/office/drawing/2014/main" id="{AF184101-BA5D-C9C8-1E62-7B4D51424352}"/>
              </a:ext>
            </a:extLst>
          </p:cNvPr>
          <p:cNvSpPr>
            <a:spLocks noGrp="1"/>
          </p:cNvSpPr>
          <p:nvPr>
            <p:ph type="sldNum" sz="quarter" idx="7"/>
          </p:nvPr>
        </p:nvSpPr>
        <p:spPr>
          <a:xfrm>
            <a:off x="9190908" y="7053726"/>
            <a:ext cx="140334" cy="152400"/>
          </a:xfrm>
        </p:spPr>
        <p:txBody>
          <a:bodyPr/>
          <a:lstStyle/>
          <a:p>
            <a:pPr marL="38100">
              <a:lnSpc>
                <a:spcPts val="1045"/>
              </a:lnSpc>
            </a:pPr>
            <a:fld id="{81D60167-4931-47E6-BA6A-407CBD079E47}" type="slidenum">
              <a:rPr lang="en-IN" spc="-5" smtClean="0"/>
              <a:t>5</a:t>
            </a:fld>
            <a:endParaRPr lang="en-IN" spc="-5" dirty="0"/>
          </a:p>
        </p:txBody>
      </p:sp>
      <p:pic>
        <p:nvPicPr>
          <p:cNvPr id="7" name="object 5">
            <a:extLst>
              <a:ext uri="{FF2B5EF4-FFF2-40B4-BE49-F238E27FC236}">
                <a16:creationId xmlns:a16="http://schemas.microsoft.com/office/drawing/2014/main" id="{C0E24129-653E-6464-A4E0-D318F141CDB8}"/>
              </a:ext>
            </a:extLst>
          </p:cNvPr>
          <p:cNvPicPr/>
          <p:nvPr/>
        </p:nvPicPr>
        <p:blipFill>
          <a:blip r:embed="rId2" cstate="print"/>
          <a:stretch>
            <a:fillRect/>
          </a:stretch>
        </p:blipFill>
        <p:spPr>
          <a:xfrm>
            <a:off x="144311" y="150584"/>
            <a:ext cx="770089" cy="754380"/>
          </a:xfrm>
          <a:prstGeom prst="rect">
            <a:avLst/>
          </a:prstGeom>
        </p:spPr>
      </p:pic>
      <p:pic>
        <p:nvPicPr>
          <p:cNvPr id="8" name="object 4">
            <a:extLst>
              <a:ext uri="{FF2B5EF4-FFF2-40B4-BE49-F238E27FC236}">
                <a16:creationId xmlns:a16="http://schemas.microsoft.com/office/drawing/2014/main" id="{92CEDE8D-BFC2-B447-0FC4-4AF1BE8A3FCA}"/>
              </a:ext>
            </a:extLst>
          </p:cNvPr>
          <p:cNvPicPr/>
          <p:nvPr/>
        </p:nvPicPr>
        <p:blipFill>
          <a:blip r:embed="rId3" cstate="print"/>
          <a:stretch>
            <a:fillRect/>
          </a:stretch>
        </p:blipFill>
        <p:spPr>
          <a:xfrm>
            <a:off x="8934043" y="141010"/>
            <a:ext cx="906779" cy="531876"/>
          </a:xfrm>
          <a:prstGeom prst="rect">
            <a:avLst/>
          </a:prstGeom>
        </p:spPr>
      </p:pic>
      <p:graphicFrame>
        <p:nvGraphicFramePr>
          <p:cNvPr id="9" name="Table 8">
            <a:extLst>
              <a:ext uri="{FF2B5EF4-FFF2-40B4-BE49-F238E27FC236}">
                <a16:creationId xmlns:a16="http://schemas.microsoft.com/office/drawing/2014/main" id="{46404195-140A-B7F4-C803-9E184B7585BE}"/>
              </a:ext>
            </a:extLst>
          </p:cNvPr>
          <p:cNvGraphicFramePr>
            <a:graphicFrameLocks noGrp="1"/>
          </p:cNvGraphicFramePr>
          <p:nvPr>
            <p:extLst>
              <p:ext uri="{D42A27DB-BD31-4B8C-83A1-F6EECF244321}">
                <p14:modId xmlns:p14="http://schemas.microsoft.com/office/powerpoint/2010/main" val="563518523"/>
              </p:ext>
            </p:extLst>
          </p:nvPr>
        </p:nvGraphicFramePr>
        <p:xfrm>
          <a:off x="281623" y="1086062"/>
          <a:ext cx="9548177" cy="5357158"/>
        </p:xfrm>
        <a:graphic>
          <a:graphicData uri="http://schemas.openxmlformats.org/drawingml/2006/table">
            <a:tbl>
              <a:tblPr firstRow="1" bandRow="1">
                <a:tableStyleId>{D7AC3CCA-C797-4891-BE02-D94E43425B78}</a:tableStyleId>
              </a:tblPr>
              <a:tblGrid>
                <a:gridCol w="540803">
                  <a:extLst>
                    <a:ext uri="{9D8B030D-6E8A-4147-A177-3AD203B41FA5}">
                      <a16:colId xmlns:a16="http://schemas.microsoft.com/office/drawing/2014/main" val="1572076952"/>
                    </a:ext>
                  </a:extLst>
                </a:gridCol>
                <a:gridCol w="1676040">
                  <a:extLst>
                    <a:ext uri="{9D8B030D-6E8A-4147-A177-3AD203B41FA5}">
                      <a16:colId xmlns:a16="http://schemas.microsoft.com/office/drawing/2014/main" val="272003633"/>
                    </a:ext>
                  </a:extLst>
                </a:gridCol>
                <a:gridCol w="1095872">
                  <a:extLst>
                    <a:ext uri="{9D8B030D-6E8A-4147-A177-3AD203B41FA5}">
                      <a16:colId xmlns:a16="http://schemas.microsoft.com/office/drawing/2014/main" val="2501578597"/>
                    </a:ext>
                  </a:extLst>
                </a:gridCol>
                <a:gridCol w="1353724">
                  <a:extLst>
                    <a:ext uri="{9D8B030D-6E8A-4147-A177-3AD203B41FA5}">
                      <a16:colId xmlns:a16="http://schemas.microsoft.com/office/drawing/2014/main" val="1195018054"/>
                    </a:ext>
                  </a:extLst>
                </a:gridCol>
                <a:gridCol w="2214738">
                  <a:extLst>
                    <a:ext uri="{9D8B030D-6E8A-4147-A177-3AD203B41FA5}">
                      <a16:colId xmlns:a16="http://schemas.microsoft.com/office/drawing/2014/main" val="2341279884"/>
                    </a:ext>
                  </a:extLst>
                </a:gridCol>
                <a:gridCol w="2667000">
                  <a:extLst>
                    <a:ext uri="{9D8B030D-6E8A-4147-A177-3AD203B41FA5}">
                      <a16:colId xmlns:a16="http://schemas.microsoft.com/office/drawing/2014/main" val="3462861664"/>
                    </a:ext>
                  </a:extLst>
                </a:gridCol>
              </a:tblGrid>
              <a:tr h="651298">
                <a:tc>
                  <a:txBody>
                    <a:bodyPr/>
                    <a:lstStyle/>
                    <a:p>
                      <a:r>
                        <a:rPr lang="en-IN" sz="1800" b="1" dirty="0">
                          <a:latin typeface="Times New Roman" panose="02020603050405020304" pitchFamily="18" charset="0"/>
                          <a:cs typeface="Times New Roman" panose="02020603050405020304" pitchFamily="18" charset="0"/>
                        </a:rPr>
                        <a:t>S no</a:t>
                      </a:r>
                    </a:p>
                  </a:txBody>
                  <a:tcPr anchor="ctr"/>
                </a:tc>
                <a:tc>
                  <a:txBody>
                    <a:bodyPr/>
                    <a:lstStyle/>
                    <a:p>
                      <a:r>
                        <a:rPr lang="en-IN" sz="1800" b="1" i="0" dirty="0">
                          <a:solidFill>
                            <a:schemeClr val="dk1"/>
                          </a:solidFill>
                          <a:effectLst/>
                          <a:latin typeface="Times New Roman" panose="02020603050405020304" pitchFamily="18" charset="0"/>
                          <a:ea typeface="+mn-ea"/>
                          <a:cs typeface="Times New Roman" panose="02020603050405020304" pitchFamily="18" charset="0"/>
                        </a:rPr>
                        <a:t>Title / Focus Area</a:t>
                      </a:r>
                      <a:endParaRPr lang="en-IN" sz="1800" b="1" dirty="0">
                        <a:latin typeface="Times New Roman" panose="02020603050405020304" pitchFamily="18" charset="0"/>
                        <a:cs typeface="Times New Roman" panose="02020603050405020304" pitchFamily="18" charset="0"/>
                      </a:endParaRPr>
                    </a:p>
                  </a:txBody>
                  <a:tcPr anchor="ctr"/>
                </a:tc>
                <a:tc>
                  <a:txBody>
                    <a:bodyPr/>
                    <a:lstStyle/>
                    <a:p>
                      <a:r>
                        <a:rPr lang="en-IN" sz="1800" b="1" i="0" dirty="0">
                          <a:solidFill>
                            <a:schemeClr val="dk1"/>
                          </a:solidFill>
                          <a:effectLst/>
                          <a:latin typeface="Times New Roman" panose="02020603050405020304" pitchFamily="18" charset="0"/>
                          <a:ea typeface="+mn-ea"/>
                          <a:cs typeface="Times New Roman" panose="02020603050405020304" pitchFamily="18" charset="0"/>
                        </a:rPr>
                        <a:t>Author(s) &amp; Year</a:t>
                      </a:r>
                      <a:endParaRPr lang="en-IN" sz="1800" b="1" dirty="0">
                        <a:latin typeface="Times New Roman" panose="02020603050405020304" pitchFamily="18" charset="0"/>
                        <a:cs typeface="Times New Roman" panose="02020603050405020304" pitchFamily="18" charset="0"/>
                      </a:endParaRPr>
                    </a:p>
                  </a:txBody>
                  <a:tcPr anchor="ctr"/>
                </a:tc>
                <a:tc>
                  <a:txBody>
                    <a:bodyPr/>
                    <a:lstStyle/>
                    <a:p>
                      <a:pPr algn="ctr"/>
                      <a:r>
                        <a:rPr lang="en-IN" sz="1800" b="1" i="0" dirty="0">
                          <a:solidFill>
                            <a:schemeClr val="dk1"/>
                          </a:solidFill>
                          <a:effectLst/>
                          <a:latin typeface="Times New Roman" panose="02020603050405020304" pitchFamily="18" charset="0"/>
                          <a:ea typeface="+mn-ea"/>
                          <a:cs typeface="Times New Roman" panose="02020603050405020304" pitchFamily="18" charset="0"/>
                        </a:rPr>
                        <a:t>Technologies Used</a:t>
                      </a:r>
                      <a:endParaRPr lang="en-IN" sz="1800" b="1" dirty="0">
                        <a:latin typeface="Times New Roman" panose="02020603050405020304" pitchFamily="18" charset="0"/>
                        <a:cs typeface="Times New Roman" panose="02020603050405020304" pitchFamily="18" charset="0"/>
                      </a:endParaRPr>
                    </a:p>
                  </a:txBody>
                  <a:tcPr anchor="ctr"/>
                </a:tc>
                <a:tc>
                  <a:txBody>
                    <a:bodyPr/>
                    <a:lstStyle/>
                    <a:p>
                      <a:r>
                        <a:rPr lang="en-IN" sz="1800" b="1" i="0" dirty="0">
                          <a:solidFill>
                            <a:schemeClr val="dk1"/>
                          </a:solidFill>
                          <a:effectLst/>
                          <a:latin typeface="Times New Roman" panose="02020603050405020304" pitchFamily="18" charset="0"/>
                          <a:ea typeface="+mn-ea"/>
                          <a:cs typeface="Times New Roman" panose="02020603050405020304" pitchFamily="18" charset="0"/>
                        </a:rPr>
                        <a:t>Methodologies</a:t>
                      </a:r>
                      <a:endParaRPr lang="en-IN" sz="1800" b="1" dirty="0">
                        <a:latin typeface="Times New Roman" panose="02020603050405020304" pitchFamily="18" charset="0"/>
                        <a:cs typeface="Times New Roman" panose="02020603050405020304" pitchFamily="18" charset="0"/>
                      </a:endParaRPr>
                    </a:p>
                  </a:txBody>
                  <a:tcPr anchor="ctr"/>
                </a:tc>
                <a:tc>
                  <a:txBody>
                    <a:bodyPr/>
                    <a:lstStyle/>
                    <a:p>
                      <a:pPr algn="l">
                        <a:lnSpc>
                          <a:spcPts val="1875"/>
                        </a:lnSpc>
                        <a:buNone/>
                      </a:pPr>
                      <a:r>
                        <a:rPr lang="en-IN" sz="1800" b="1" dirty="0">
                          <a:effectLst/>
                          <a:latin typeface="Times New Roman" panose="02020603050405020304" pitchFamily="18" charset="0"/>
                          <a:cs typeface="Times New Roman" panose="02020603050405020304" pitchFamily="18" charset="0"/>
                        </a:rPr>
                        <a:t>Limitations</a:t>
                      </a:r>
                    </a:p>
                  </a:txBody>
                  <a:tcPr marL="121920" marR="121920" marT="76200" marB="76200" anchor="ctr"/>
                </a:tc>
                <a:extLst>
                  <a:ext uri="{0D108BD9-81ED-4DB2-BD59-A6C34878D82A}">
                    <a16:rowId xmlns:a16="http://schemas.microsoft.com/office/drawing/2014/main" val="181461234"/>
                  </a:ext>
                </a:extLst>
              </a:tr>
              <a:tr h="1568620">
                <a:tc>
                  <a:txBody>
                    <a:bodyPr/>
                    <a:lstStyle/>
                    <a:p>
                      <a:r>
                        <a:rPr lang="en-IN" sz="1800" dirty="0">
                          <a:latin typeface="Times New Roman" panose="02020603050405020304" pitchFamily="18" charset="0"/>
                          <a:cs typeface="Times New Roman" panose="02020603050405020304" pitchFamily="18" charset="0"/>
                        </a:rPr>
                        <a:t>3</a:t>
                      </a:r>
                    </a:p>
                  </a:txBody>
                  <a:tcPr anchor="ctr"/>
                </a:tc>
                <a:tc>
                  <a:txBody>
                    <a:bodyPr/>
                    <a:lstStyle/>
                    <a:p>
                      <a:r>
                        <a:rPr lang="en-IN" sz="1800" b="0" i="0" dirty="0">
                          <a:solidFill>
                            <a:schemeClr val="dk1"/>
                          </a:solidFill>
                          <a:effectLst/>
                          <a:latin typeface="+mn-lt"/>
                          <a:ea typeface="+mn-ea"/>
                          <a:cs typeface="+mn-cs"/>
                        </a:rPr>
                        <a:t>HAM10000 Dataset for </a:t>
                      </a:r>
                      <a:r>
                        <a:rPr lang="en-IN" sz="1800" b="0" i="0" dirty="0" err="1">
                          <a:solidFill>
                            <a:schemeClr val="dk1"/>
                          </a:solidFill>
                          <a:effectLst/>
                          <a:latin typeface="+mn-lt"/>
                          <a:ea typeface="+mn-ea"/>
                          <a:cs typeface="+mn-cs"/>
                        </a:rPr>
                        <a:t>Dermatoscopic</a:t>
                      </a:r>
                      <a:r>
                        <a:rPr lang="en-IN" sz="1800" b="0" i="0" dirty="0">
                          <a:solidFill>
                            <a:schemeClr val="dk1"/>
                          </a:solidFill>
                          <a:effectLst/>
                          <a:latin typeface="+mn-lt"/>
                          <a:ea typeface="+mn-ea"/>
                          <a:cs typeface="+mn-cs"/>
                        </a:rPr>
                        <a:t> Images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a:r>
                        <a:rPr lang="en-IN" sz="1800" b="0" i="0" dirty="0" err="1">
                          <a:solidFill>
                            <a:schemeClr val="dk1"/>
                          </a:solidFill>
                          <a:effectLst/>
                          <a:latin typeface="+mn-lt"/>
                          <a:ea typeface="+mn-ea"/>
                          <a:cs typeface="+mn-cs"/>
                        </a:rPr>
                        <a:t>Tschandl</a:t>
                      </a:r>
                      <a:r>
                        <a:rPr lang="en-IN" sz="1800" b="0" i="0" dirty="0">
                          <a:solidFill>
                            <a:schemeClr val="dk1"/>
                          </a:solidFill>
                          <a:effectLst/>
                          <a:latin typeface="+mn-lt"/>
                          <a:ea typeface="+mn-ea"/>
                          <a:cs typeface="+mn-cs"/>
                        </a:rPr>
                        <a:t> et al. (2018)</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a:r>
                        <a:rPr lang="en-IN" sz="1800" b="0" i="0" dirty="0">
                          <a:solidFill>
                            <a:schemeClr val="dk1"/>
                          </a:solidFill>
                          <a:effectLst/>
                          <a:latin typeface="+mn-lt"/>
                          <a:ea typeface="+mn-ea"/>
                          <a:cs typeface="+mn-cs"/>
                        </a:rPr>
                        <a:t>CNNs, Large-Scale Image Datasets</a:t>
                      </a:r>
                      <a:endParaRPr lang="en-IN" sz="1800" dirty="0">
                        <a:latin typeface="Times New Roman" panose="02020603050405020304" pitchFamily="18" charset="0"/>
                        <a:cs typeface="Times New Roman" panose="02020603050405020304" pitchFamily="18" charset="0"/>
                      </a:endParaRPr>
                    </a:p>
                  </a:txBody>
                  <a:tcPr anchor="ctr"/>
                </a:tc>
                <a:tc>
                  <a:txBody>
                    <a:bodyPr/>
                    <a:lstStyle/>
                    <a:p>
                      <a:r>
                        <a:rPr lang="en-US" sz="1800" b="0" i="0" dirty="0">
                          <a:solidFill>
                            <a:schemeClr val="dk1"/>
                          </a:solidFill>
                          <a:effectLst/>
                          <a:latin typeface="+mn-lt"/>
                          <a:ea typeface="+mn-ea"/>
                          <a:cs typeface="+mn-cs"/>
                        </a:rPr>
                        <a:t>Created and benchmarked a large, annotated dataset of diverse skin lesions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lnSpc>
                          <a:spcPts val="1875"/>
                        </a:lnSpc>
                        <a:buNone/>
                      </a:pPr>
                      <a:r>
                        <a:rPr lang="en-US" sz="1800" b="0" i="0" dirty="0">
                          <a:solidFill>
                            <a:schemeClr val="dk1"/>
                          </a:solidFill>
                          <a:effectLst/>
                          <a:latin typeface="+mn-lt"/>
                          <a:ea typeface="+mn-ea"/>
                          <a:cs typeface="+mn-cs"/>
                        </a:rPr>
                        <a:t>Limited representation of rare skin conditions and all skin tones</a:t>
                      </a:r>
                      <a:endParaRPr lang="en-IN" sz="1800" b="0" dirty="0">
                        <a:effectLst/>
                        <a:latin typeface="Times New Roman" panose="02020603050405020304" pitchFamily="18" charset="0"/>
                        <a:cs typeface="Times New Roman" panose="02020603050405020304" pitchFamily="18" charset="0"/>
                      </a:endParaRPr>
                    </a:p>
                  </a:txBody>
                  <a:tcPr marL="121920" marR="121920" marT="76200" marB="76200" anchor="ctr"/>
                </a:tc>
                <a:extLst>
                  <a:ext uri="{0D108BD9-81ED-4DB2-BD59-A6C34878D82A}">
                    <a16:rowId xmlns:a16="http://schemas.microsoft.com/office/drawing/2014/main" val="3759859112"/>
                  </a:ext>
                </a:extLst>
              </a:tr>
              <a:tr h="1568620">
                <a:tc>
                  <a:txBody>
                    <a:bodyPr/>
                    <a:lstStyle/>
                    <a:p>
                      <a:r>
                        <a:rPr lang="en-IN" sz="1800" dirty="0">
                          <a:latin typeface="Times New Roman" panose="02020603050405020304" pitchFamily="18" charset="0"/>
                          <a:cs typeface="Times New Roman" panose="02020603050405020304" pitchFamily="18" charset="0"/>
                        </a:rPr>
                        <a:t>4</a:t>
                      </a:r>
                    </a:p>
                  </a:txBody>
                  <a:tcPr anchor="ctr"/>
                </a:tc>
                <a:tc>
                  <a:txBody>
                    <a:bodyPr/>
                    <a:lstStyle/>
                    <a:p>
                      <a:r>
                        <a:rPr lang="en-US" sz="1800" b="0" i="0" dirty="0">
                          <a:solidFill>
                            <a:schemeClr val="dk1"/>
                          </a:solidFill>
                          <a:effectLst/>
                          <a:latin typeface="+mn-lt"/>
                          <a:ea typeface="+mn-ea"/>
                          <a:cs typeface="+mn-cs"/>
                        </a:rPr>
                        <a:t>Multitask Neural Networks for Lesion Analysis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a:r>
                        <a:rPr lang="en-IN" sz="1800" b="0" i="0" dirty="0">
                          <a:solidFill>
                            <a:schemeClr val="dk1"/>
                          </a:solidFill>
                          <a:effectLst/>
                          <a:latin typeface="+mn-lt"/>
                          <a:ea typeface="+mn-ea"/>
                          <a:cs typeface="+mn-cs"/>
                        </a:rPr>
                        <a:t>Kawahara et al. (2018)</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a:r>
                        <a:rPr lang="en-US" sz="1800" b="0" i="0" dirty="0">
                          <a:solidFill>
                            <a:schemeClr val="dk1"/>
                          </a:solidFill>
                          <a:effectLst/>
                          <a:latin typeface="+mn-lt"/>
                          <a:ea typeface="+mn-ea"/>
                          <a:cs typeface="+mn-cs"/>
                        </a:rPr>
                        <a:t>Multitask Neural Networks, Feature Extraction</a:t>
                      </a:r>
                      <a:endParaRPr lang="en-IN" sz="1800" dirty="0">
                        <a:latin typeface="Times New Roman" panose="02020603050405020304" pitchFamily="18" charset="0"/>
                        <a:cs typeface="Times New Roman" panose="02020603050405020304" pitchFamily="18" charset="0"/>
                      </a:endParaRPr>
                    </a:p>
                  </a:txBody>
                  <a:tcPr anchor="ctr"/>
                </a:tc>
                <a:tc>
                  <a:txBody>
                    <a:bodyPr/>
                    <a:lstStyle/>
                    <a:p>
                      <a:r>
                        <a:rPr lang="en-US" b="0" i="0" dirty="0">
                          <a:solidFill>
                            <a:schemeClr val="dk1"/>
                          </a:solidFill>
                          <a:effectLst/>
                          <a:latin typeface="+mn-lt"/>
                          <a:ea typeface="+mn-ea"/>
                          <a:cs typeface="+mn-cs"/>
                        </a:rPr>
                        <a:t>Combined shape, color, and texture features with classification tasks</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lnSpc>
                          <a:spcPts val="1875"/>
                        </a:lnSpc>
                        <a:buNone/>
                      </a:pPr>
                      <a:r>
                        <a:rPr lang="en-US" b="0" i="0" dirty="0">
                          <a:solidFill>
                            <a:schemeClr val="dk1"/>
                          </a:solidFill>
                          <a:effectLst/>
                          <a:latin typeface="+mn-lt"/>
                          <a:ea typeface="+mn-ea"/>
                          <a:cs typeface="+mn-cs"/>
                        </a:rPr>
                        <a:t>Complex model architecture; requires extensive training data</a:t>
                      </a:r>
                      <a:endParaRPr lang="en-IN" sz="1800" b="0" dirty="0">
                        <a:effectLst/>
                        <a:latin typeface="Times New Roman" panose="02020603050405020304" pitchFamily="18" charset="0"/>
                        <a:cs typeface="Times New Roman" panose="02020603050405020304" pitchFamily="18" charset="0"/>
                      </a:endParaRPr>
                    </a:p>
                  </a:txBody>
                  <a:tcPr marL="121920" marR="121920" marT="76200" marB="76200" anchor="ctr"/>
                </a:tc>
                <a:extLst>
                  <a:ext uri="{0D108BD9-81ED-4DB2-BD59-A6C34878D82A}">
                    <a16:rowId xmlns:a16="http://schemas.microsoft.com/office/drawing/2014/main" val="3408904383"/>
                  </a:ext>
                </a:extLst>
              </a:tr>
              <a:tr h="1568620">
                <a:tc>
                  <a:txBody>
                    <a:bodyPr/>
                    <a:lstStyle/>
                    <a:p>
                      <a:r>
                        <a:rPr lang="en-IN" sz="1800" dirty="0">
                          <a:latin typeface="Times New Roman" panose="02020603050405020304" pitchFamily="18" charset="0"/>
                          <a:cs typeface="Times New Roman" panose="02020603050405020304" pitchFamily="18" charset="0"/>
                        </a:rPr>
                        <a:t>5</a:t>
                      </a:r>
                    </a:p>
                  </a:txBody>
                  <a:tcPr anchor="ctr"/>
                </a:tc>
                <a:tc>
                  <a:txBody>
                    <a:bodyPr/>
                    <a:lstStyle/>
                    <a:p>
                      <a:r>
                        <a:rPr lang="en-US" b="0" i="0" dirty="0">
                          <a:solidFill>
                            <a:schemeClr val="dk1"/>
                          </a:solidFill>
                          <a:effectLst/>
                          <a:latin typeface="+mn-lt"/>
                          <a:ea typeface="+mn-ea"/>
                          <a:cs typeface="+mn-cs"/>
                        </a:rPr>
                        <a:t>Ensemble Methods for Lesion Detection</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a:r>
                        <a:rPr lang="en-IN" b="0" i="0" dirty="0">
                          <a:solidFill>
                            <a:schemeClr val="dk1"/>
                          </a:solidFill>
                          <a:effectLst/>
                          <a:latin typeface="+mn-lt"/>
                          <a:ea typeface="+mn-ea"/>
                          <a:cs typeface="+mn-cs"/>
                        </a:rPr>
                        <a:t>Codella et al. (2019)</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a:r>
                        <a:rPr lang="en-IN" b="0" i="0" dirty="0">
                          <a:solidFill>
                            <a:schemeClr val="dk1"/>
                          </a:solidFill>
                          <a:effectLst/>
                          <a:latin typeface="+mn-lt"/>
                          <a:ea typeface="+mn-ea"/>
                          <a:cs typeface="+mn-cs"/>
                        </a:rPr>
                        <a:t>Ensemble Methods, Multimodal Inputs</a:t>
                      </a:r>
                      <a:endParaRPr lang="en-IN" sz="1800" dirty="0">
                        <a:latin typeface="Times New Roman" panose="02020603050405020304" pitchFamily="18" charset="0"/>
                        <a:cs typeface="Times New Roman" panose="02020603050405020304" pitchFamily="18" charset="0"/>
                      </a:endParaRPr>
                    </a:p>
                  </a:txBody>
                  <a:tcPr anchor="ctr"/>
                </a:tc>
                <a:tc>
                  <a:txBody>
                    <a:bodyPr/>
                    <a:lstStyle/>
                    <a:p>
                      <a:r>
                        <a:rPr lang="en-US" b="0" i="0" dirty="0">
                          <a:solidFill>
                            <a:schemeClr val="dk1"/>
                          </a:solidFill>
                          <a:effectLst/>
                          <a:latin typeface="+mn-lt"/>
                          <a:ea typeface="+mn-ea"/>
                          <a:cs typeface="+mn-cs"/>
                        </a:rPr>
                        <a:t>Used ensemble techniques and multiple input types to improve detection accuracy</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l">
                        <a:lnSpc>
                          <a:spcPts val="1875"/>
                        </a:lnSpc>
                        <a:buNone/>
                      </a:pPr>
                      <a:r>
                        <a:rPr lang="en-US" b="0" i="0" dirty="0">
                          <a:solidFill>
                            <a:schemeClr val="dk1"/>
                          </a:solidFill>
                          <a:effectLst/>
                          <a:latin typeface="+mn-lt"/>
                          <a:ea typeface="+mn-ea"/>
                          <a:cs typeface="+mn-cs"/>
                        </a:rPr>
                        <a:t>Computationally intensive; may not be suitable for real-time applications</a:t>
                      </a:r>
                      <a:endParaRPr lang="en-IN" sz="1800" b="0" dirty="0">
                        <a:effectLst/>
                        <a:latin typeface="Times New Roman" panose="02020603050405020304" pitchFamily="18" charset="0"/>
                        <a:cs typeface="Times New Roman" panose="02020603050405020304" pitchFamily="18" charset="0"/>
                      </a:endParaRPr>
                    </a:p>
                  </a:txBody>
                  <a:tcPr marL="121920" marR="121920" marT="76200" marB="76200" anchor="ctr"/>
                </a:tc>
                <a:extLst>
                  <a:ext uri="{0D108BD9-81ED-4DB2-BD59-A6C34878D82A}">
                    <a16:rowId xmlns:a16="http://schemas.microsoft.com/office/drawing/2014/main" val="1372104913"/>
                  </a:ext>
                </a:extLst>
              </a:tr>
            </a:tbl>
          </a:graphicData>
        </a:graphic>
      </p:graphicFrame>
      <p:sp>
        <p:nvSpPr>
          <p:cNvPr id="3" name="Date Placeholder 2">
            <a:extLst>
              <a:ext uri="{FF2B5EF4-FFF2-40B4-BE49-F238E27FC236}">
                <a16:creationId xmlns:a16="http://schemas.microsoft.com/office/drawing/2014/main" id="{D98AA4C7-6EA6-379A-D2EE-4B4447686F95}"/>
              </a:ext>
            </a:extLst>
          </p:cNvPr>
          <p:cNvSpPr>
            <a:spLocks noGrp="1"/>
          </p:cNvSpPr>
          <p:nvPr>
            <p:ph type="dt" sz="half" idx="6"/>
          </p:nvPr>
        </p:nvSpPr>
        <p:spPr>
          <a:xfrm>
            <a:off x="617220" y="7075338"/>
            <a:ext cx="594360" cy="152400"/>
          </a:xfrm>
        </p:spPr>
        <p:txBody>
          <a:bodyPr/>
          <a:lstStyle/>
          <a:p>
            <a:pPr marL="12700">
              <a:lnSpc>
                <a:spcPts val="1045"/>
              </a:lnSpc>
            </a:pPr>
            <a:r>
              <a:rPr lang="en-US" spc="-25"/>
              <a:t>28-04-2025</a:t>
            </a:r>
            <a:endParaRPr lang="en-US" spc="-25" dirty="0"/>
          </a:p>
        </p:txBody>
      </p:sp>
      <p:sp>
        <p:nvSpPr>
          <p:cNvPr id="4" name="Footer Placeholder 3">
            <a:extLst>
              <a:ext uri="{FF2B5EF4-FFF2-40B4-BE49-F238E27FC236}">
                <a16:creationId xmlns:a16="http://schemas.microsoft.com/office/drawing/2014/main" id="{A5A41138-0B4B-0FAE-3922-013168C85BC9}"/>
              </a:ext>
            </a:extLst>
          </p:cNvPr>
          <p:cNvSpPr>
            <a:spLocks noGrp="1"/>
          </p:cNvSpPr>
          <p:nvPr>
            <p:ph type="ftr" sz="quarter" idx="5"/>
          </p:nvPr>
        </p:nvSpPr>
        <p:spPr>
          <a:xfrm>
            <a:off x="3962055" y="7049938"/>
            <a:ext cx="2392554" cy="253620"/>
          </a:xfrm>
        </p:spPr>
        <p:txBody>
          <a:bodyPr/>
          <a:lstStyle/>
          <a:p>
            <a:pPr marL="12700">
              <a:lnSpc>
                <a:spcPts val="1045"/>
              </a:lnSpc>
            </a:pPr>
            <a:r>
              <a:rPr lang="en-US" spc="-25" dirty="0"/>
              <a:t>SNSCT/CSE/Project/NCAIDIET'25_Conference</a:t>
            </a:r>
            <a:endParaRPr lang="en-US" spc="-5" dirty="0"/>
          </a:p>
        </p:txBody>
      </p:sp>
    </p:spTree>
    <p:extLst>
      <p:ext uri="{BB962C8B-B14F-4D97-AF65-F5344CB8AC3E}">
        <p14:creationId xmlns:p14="http://schemas.microsoft.com/office/powerpoint/2010/main" val="399430685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14065" y="443992"/>
            <a:ext cx="3430270" cy="429895"/>
          </a:xfrm>
          <a:prstGeom prst="rect">
            <a:avLst/>
          </a:prstGeom>
        </p:spPr>
        <p:txBody>
          <a:bodyPr vert="horz" wrap="square" lIns="0" tIns="12700" rIns="0" bIns="0" rtlCol="0">
            <a:spAutoFit/>
          </a:bodyPr>
          <a:lstStyle/>
          <a:p>
            <a:pPr marL="12700">
              <a:lnSpc>
                <a:spcPct val="100000"/>
              </a:lnSpc>
              <a:spcBef>
                <a:spcPts val="100"/>
              </a:spcBef>
            </a:pPr>
            <a:r>
              <a:rPr sz="2650" spc="-15" dirty="0"/>
              <a:t>EXISTING</a:t>
            </a:r>
            <a:r>
              <a:rPr sz="2650" spc="-125" dirty="0"/>
              <a:t> </a:t>
            </a:r>
            <a:r>
              <a:rPr sz="2650" spc="-15" dirty="0"/>
              <a:t>SYSTEM</a:t>
            </a:r>
            <a:endParaRPr sz="2650" dirty="0"/>
          </a:p>
        </p:txBody>
      </p:sp>
      <p:sp>
        <p:nvSpPr>
          <p:cNvPr id="3" name="object 3"/>
          <p:cNvSpPr txBox="1"/>
          <p:nvPr/>
        </p:nvSpPr>
        <p:spPr>
          <a:xfrm>
            <a:off x="812718" y="1566302"/>
            <a:ext cx="8505960" cy="4639796"/>
          </a:xfrm>
          <a:prstGeom prst="rect">
            <a:avLst/>
          </a:prstGeom>
        </p:spPr>
        <p:txBody>
          <a:bodyPr vert="horz" wrap="square" lIns="0" tIns="12065" rIns="0" bIns="0" rtlCol="0">
            <a:spAutoFit/>
          </a:bodyPr>
          <a:lstStyle/>
          <a:p>
            <a:pPr marL="354965" marR="5080" indent="-342900" algn="just">
              <a:lnSpc>
                <a:spcPct val="200000"/>
              </a:lnSpc>
              <a:spcBef>
                <a:spcPts val="95"/>
              </a:spcBef>
              <a:buFont typeface="Wingdings" panose="05000000000000000000" pitchFamily="2" charset="2"/>
              <a:buChar char="§"/>
              <a:tabLst>
                <a:tab pos="297815" algn="l"/>
              </a:tabLst>
            </a:pPr>
            <a:r>
              <a:rPr lang="en-US" sz="1900" dirty="0">
                <a:latin typeface="Times New Roman" panose="02020603050405020304" pitchFamily="18" charset="0"/>
                <a:cs typeface="Times New Roman" panose="02020603050405020304" pitchFamily="18" charset="0"/>
              </a:rPr>
              <a:t>Current skin cancer detection heavily relies on dermatologist expertise, making diagnosis time-consuming and prone to human error.</a:t>
            </a:r>
          </a:p>
          <a:p>
            <a:pPr marL="354965" marR="5080" indent="-342900" algn="just">
              <a:lnSpc>
                <a:spcPct val="200000"/>
              </a:lnSpc>
              <a:spcBef>
                <a:spcPts val="95"/>
              </a:spcBef>
              <a:buFont typeface="Wingdings" panose="05000000000000000000" pitchFamily="2" charset="2"/>
              <a:buChar char="§"/>
              <a:tabLst>
                <a:tab pos="297815" algn="l"/>
              </a:tabLst>
            </a:pPr>
            <a:r>
              <a:rPr lang="en-US" sz="1900" dirty="0">
                <a:latin typeface="Times New Roman" panose="02020603050405020304" pitchFamily="18" charset="0"/>
                <a:cs typeface="Times New Roman" panose="02020603050405020304" pitchFamily="18" charset="0"/>
              </a:rPr>
              <a:t>Most existing systems use basic image processing or traditional ML methods with handcrafted features, leading to low adaptability and limited precision.</a:t>
            </a:r>
          </a:p>
          <a:p>
            <a:pPr marL="354965" marR="5080" indent="-342900" algn="just">
              <a:lnSpc>
                <a:spcPct val="200000"/>
              </a:lnSpc>
              <a:spcBef>
                <a:spcPts val="95"/>
              </a:spcBef>
              <a:buFont typeface="Wingdings" panose="05000000000000000000" pitchFamily="2" charset="2"/>
              <a:buChar char="§"/>
              <a:tabLst>
                <a:tab pos="297815" algn="l"/>
              </a:tabLst>
            </a:pPr>
            <a:r>
              <a:rPr lang="en-US" sz="1900" dirty="0">
                <a:latin typeface="Times New Roman" panose="02020603050405020304" pitchFamily="18" charset="0"/>
                <a:cs typeface="Times New Roman" panose="02020603050405020304" pitchFamily="18" charset="0"/>
              </a:rPr>
              <a:t>Many tools do not provide an interactive interface for patients or doctors, restricting real-time feedback and accessibility.</a:t>
            </a:r>
          </a:p>
          <a:p>
            <a:pPr marL="354965" marR="5080" indent="-342900" algn="just">
              <a:lnSpc>
                <a:spcPct val="200000"/>
              </a:lnSpc>
              <a:spcBef>
                <a:spcPts val="95"/>
              </a:spcBef>
              <a:buFont typeface="Wingdings" panose="05000000000000000000" pitchFamily="2" charset="2"/>
              <a:buChar char="§"/>
              <a:tabLst>
                <a:tab pos="297815" algn="l"/>
              </a:tabLst>
            </a:pPr>
            <a:r>
              <a:rPr lang="en-US" sz="1900" dirty="0">
                <a:latin typeface="Times New Roman" panose="02020603050405020304" pitchFamily="18" charset="0"/>
                <a:cs typeface="Times New Roman" panose="02020603050405020304" pitchFamily="18" charset="0"/>
              </a:rPr>
              <a:t>Existing systems focus only on classification and fail to include Generative AI capabilities for offering treatment guidance or dermatologist recommendations.</a:t>
            </a:r>
          </a:p>
        </p:txBody>
      </p:sp>
      <p:pic>
        <p:nvPicPr>
          <p:cNvPr id="4" name="object 4"/>
          <p:cNvPicPr/>
          <p:nvPr/>
        </p:nvPicPr>
        <p:blipFill>
          <a:blip r:embed="rId2" cstate="print"/>
          <a:stretch>
            <a:fillRect/>
          </a:stretch>
        </p:blipFill>
        <p:spPr>
          <a:xfrm>
            <a:off x="166964" y="282922"/>
            <a:ext cx="770089" cy="754380"/>
          </a:xfrm>
          <a:prstGeom prst="rect">
            <a:avLst/>
          </a:prstGeom>
        </p:spPr>
      </p:pic>
      <p:pic>
        <p:nvPicPr>
          <p:cNvPr id="5" name="object 5"/>
          <p:cNvPicPr/>
          <p:nvPr/>
        </p:nvPicPr>
        <p:blipFill>
          <a:blip r:embed="rId3" cstate="print"/>
          <a:stretch>
            <a:fillRect/>
          </a:stretch>
        </p:blipFill>
        <p:spPr>
          <a:xfrm>
            <a:off x="8982410" y="378125"/>
            <a:ext cx="905255" cy="531876"/>
          </a:xfrm>
          <a:prstGeom prst="rect">
            <a:avLst/>
          </a:prstGeom>
        </p:spPr>
      </p:pic>
      <p:sp>
        <p:nvSpPr>
          <p:cNvPr id="8" name="object 8"/>
          <p:cNvSpPr txBox="1">
            <a:spLocks noGrp="1"/>
          </p:cNvSpPr>
          <p:nvPr>
            <p:ph type="sldNum" sz="quarter" idx="7"/>
          </p:nvPr>
        </p:nvSpPr>
        <p:spPr>
          <a:xfrm>
            <a:off x="9189466" y="7010400"/>
            <a:ext cx="140334" cy="152400"/>
          </a:xfrm>
          <a:prstGeom prst="rect">
            <a:avLst/>
          </a:prstGeom>
        </p:spPr>
        <p:txBody>
          <a:bodyPr vert="horz" wrap="square" lIns="0" tIns="0" rIns="0" bIns="0" rtlCol="0">
            <a:spAutoFit/>
          </a:bodyPr>
          <a:lstStyle/>
          <a:p>
            <a:pPr marL="38100">
              <a:lnSpc>
                <a:spcPts val="1045"/>
              </a:lnSpc>
            </a:pPr>
            <a:fld id="{81D60167-4931-47E6-BA6A-407CBD079E47}" type="slidenum">
              <a:rPr spc="-5" dirty="0"/>
              <a:t>6</a:t>
            </a:fld>
            <a:endParaRPr spc="-5" dirty="0"/>
          </a:p>
        </p:txBody>
      </p:sp>
      <p:sp>
        <p:nvSpPr>
          <p:cNvPr id="9" name="Date Placeholder 8">
            <a:extLst>
              <a:ext uri="{FF2B5EF4-FFF2-40B4-BE49-F238E27FC236}">
                <a16:creationId xmlns:a16="http://schemas.microsoft.com/office/drawing/2014/main" id="{4CF9AAF9-5E53-AE31-DC2C-3F33DFCDD246}"/>
              </a:ext>
            </a:extLst>
          </p:cNvPr>
          <p:cNvSpPr>
            <a:spLocks noGrp="1"/>
          </p:cNvSpPr>
          <p:nvPr>
            <p:ph type="dt" sz="half" idx="6"/>
          </p:nvPr>
        </p:nvSpPr>
        <p:spPr>
          <a:xfrm>
            <a:off x="639873" y="7162800"/>
            <a:ext cx="594360" cy="152400"/>
          </a:xfrm>
        </p:spPr>
        <p:txBody>
          <a:bodyPr/>
          <a:lstStyle/>
          <a:p>
            <a:pPr marL="12700">
              <a:lnSpc>
                <a:spcPts val="1045"/>
              </a:lnSpc>
            </a:pPr>
            <a:r>
              <a:rPr lang="en-US" spc="-25"/>
              <a:t>28-04-2025</a:t>
            </a:r>
            <a:endParaRPr lang="en-US" spc="-25" dirty="0"/>
          </a:p>
        </p:txBody>
      </p:sp>
      <p:sp>
        <p:nvSpPr>
          <p:cNvPr id="10" name="Footer Placeholder 9">
            <a:extLst>
              <a:ext uri="{FF2B5EF4-FFF2-40B4-BE49-F238E27FC236}">
                <a16:creationId xmlns:a16="http://schemas.microsoft.com/office/drawing/2014/main" id="{0BCCE4A9-1E4A-2637-B2CE-4D61C9302AD5}"/>
              </a:ext>
            </a:extLst>
          </p:cNvPr>
          <p:cNvSpPr>
            <a:spLocks noGrp="1"/>
          </p:cNvSpPr>
          <p:nvPr>
            <p:ph type="ftr" sz="quarter" idx="5"/>
          </p:nvPr>
        </p:nvSpPr>
        <p:spPr>
          <a:xfrm>
            <a:off x="3962400" y="7162800"/>
            <a:ext cx="2392554" cy="482220"/>
          </a:xfrm>
        </p:spPr>
        <p:txBody>
          <a:bodyPr/>
          <a:lstStyle/>
          <a:p>
            <a:pPr marL="12700">
              <a:lnSpc>
                <a:spcPts val="1045"/>
              </a:lnSpc>
            </a:pPr>
            <a:r>
              <a:rPr lang="en-US" spc="-25" dirty="0"/>
              <a:t>SNSCT/CSE/Project/NCAIDIET'25_Conference</a:t>
            </a:r>
            <a:endParaRPr lang="en-US" spc="-5"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07967" y="373380"/>
            <a:ext cx="2299970" cy="429895"/>
          </a:xfrm>
          <a:prstGeom prst="rect">
            <a:avLst/>
          </a:prstGeom>
        </p:spPr>
        <p:txBody>
          <a:bodyPr vert="horz" wrap="square" lIns="0" tIns="12700" rIns="0" bIns="0" rtlCol="0">
            <a:spAutoFit/>
          </a:bodyPr>
          <a:lstStyle/>
          <a:p>
            <a:pPr marL="12700">
              <a:lnSpc>
                <a:spcPct val="100000"/>
              </a:lnSpc>
              <a:spcBef>
                <a:spcPts val="100"/>
              </a:spcBef>
            </a:pPr>
            <a:r>
              <a:rPr sz="2650" spc="-40" dirty="0"/>
              <a:t>L</a:t>
            </a:r>
            <a:r>
              <a:rPr sz="2650" spc="-35" dirty="0"/>
              <a:t>IMI</a:t>
            </a:r>
            <a:r>
              <a:rPr sz="2650" spc="-40" dirty="0"/>
              <a:t>T</a:t>
            </a:r>
            <a:r>
              <a:rPr sz="2650" spc="-35" dirty="0"/>
              <a:t>A</a:t>
            </a:r>
            <a:r>
              <a:rPr sz="2650" spc="-40" dirty="0"/>
              <a:t>T</a:t>
            </a:r>
            <a:r>
              <a:rPr sz="2650" spc="-35" dirty="0"/>
              <a:t>IO</a:t>
            </a:r>
            <a:r>
              <a:rPr sz="2650" spc="-45" dirty="0"/>
              <a:t>N</a:t>
            </a:r>
            <a:r>
              <a:rPr sz="2650" dirty="0"/>
              <a:t>S</a:t>
            </a:r>
          </a:p>
        </p:txBody>
      </p:sp>
      <p:pic>
        <p:nvPicPr>
          <p:cNvPr id="3" name="object 3"/>
          <p:cNvPicPr/>
          <p:nvPr/>
        </p:nvPicPr>
        <p:blipFill>
          <a:blip r:embed="rId2" cstate="print"/>
          <a:stretch>
            <a:fillRect/>
          </a:stretch>
        </p:blipFill>
        <p:spPr>
          <a:xfrm>
            <a:off x="296711" y="228600"/>
            <a:ext cx="770089" cy="754380"/>
          </a:xfrm>
          <a:prstGeom prst="rect">
            <a:avLst/>
          </a:prstGeom>
        </p:spPr>
      </p:pic>
      <p:pic>
        <p:nvPicPr>
          <p:cNvPr id="4" name="object 4"/>
          <p:cNvPicPr/>
          <p:nvPr/>
        </p:nvPicPr>
        <p:blipFill>
          <a:blip r:embed="rId3" cstate="print"/>
          <a:stretch>
            <a:fillRect/>
          </a:stretch>
        </p:blipFill>
        <p:spPr>
          <a:xfrm>
            <a:off x="8990076" y="324612"/>
            <a:ext cx="905255" cy="531876"/>
          </a:xfrm>
          <a:prstGeom prst="rect">
            <a:avLst/>
          </a:prstGeom>
        </p:spPr>
      </p:pic>
      <p:sp>
        <p:nvSpPr>
          <p:cNvPr id="5" name="object 5"/>
          <p:cNvSpPr txBox="1"/>
          <p:nvPr/>
        </p:nvSpPr>
        <p:spPr>
          <a:xfrm>
            <a:off x="871600" y="1164771"/>
            <a:ext cx="8458200" cy="5393208"/>
          </a:xfrm>
          <a:prstGeom prst="rect">
            <a:avLst/>
          </a:prstGeom>
        </p:spPr>
        <p:txBody>
          <a:bodyPr vert="horz" wrap="square" lIns="0" tIns="150495" rIns="0" bIns="0" rtlCol="0">
            <a:spAutoFit/>
          </a:bodyPr>
          <a:lstStyle/>
          <a:p>
            <a:pPr marL="354965" indent="-342900" algn="just">
              <a:lnSpc>
                <a:spcPct val="200000"/>
              </a:lnSpc>
              <a:spcBef>
                <a:spcPts val="1185"/>
              </a:spcBef>
              <a:buFont typeface="Wingdings" panose="05000000000000000000" pitchFamily="2" charset="2"/>
              <a:buChar char="§"/>
              <a:tabLst>
                <a:tab pos="296545" algn="l"/>
              </a:tabLst>
            </a:pPr>
            <a:r>
              <a:rPr lang="en-US" sz="1900" dirty="0">
                <a:latin typeface="Times New Roman" panose="02020603050405020304" pitchFamily="18" charset="0"/>
                <a:cs typeface="Times New Roman" panose="02020603050405020304" pitchFamily="18" charset="0"/>
              </a:rPr>
              <a:t>The model is trained on the HAM10000 dataset, which may not represent all skin tones, lighting conditions, or rare lesion types, affecting real-world accuracy.</a:t>
            </a:r>
          </a:p>
          <a:p>
            <a:pPr marL="354965" indent="-342900" algn="just">
              <a:lnSpc>
                <a:spcPct val="150000"/>
              </a:lnSpc>
              <a:spcBef>
                <a:spcPts val="1185"/>
              </a:spcBef>
              <a:buFont typeface="Wingdings" panose="05000000000000000000" pitchFamily="2" charset="2"/>
              <a:buChar char="§"/>
              <a:tabLst>
                <a:tab pos="296545" algn="l"/>
              </a:tabLst>
            </a:pPr>
            <a:r>
              <a:rPr lang="en-US" sz="1900" dirty="0">
                <a:latin typeface="Times New Roman" panose="02020603050405020304" pitchFamily="18" charset="0"/>
                <a:cs typeface="Times New Roman" panose="02020603050405020304" pitchFamily="18" charset="0"/>
              </a:rPr>
              <a:t>The baseline CNN achieves around 68% accuracy, which may not be sufficient for clinical-level reliability without further optimization or transfer learning.</a:t>
            </a:r>
          </a:p>
          <a:p>
            <a:pPr marL="354965" indent="-342900" algn="just">
              <a:lnSpc>
                <a:spcPct val="150000"/>
              </a:lnSpc>
              <a:spcBef>
                <a:spcPts val="1185"/>
              </a:spcBef>
              <a:buFont typeface="Wingdings" panose="05000000000000000000" pitchFamily="2" charset="2"/>
              <a:buChar char="§"/>
              <a:tabLst>
                <a:tab pos="296545" algn="l"/>
              </a:tabLst>
            </a:pPr>
            <a:r>
              <a:rPr lang="en-US" sz="1900" dirty="0">
                <a:latin typeface="Times New Roman" panose="02020603050405020304" pitchFamily="18" charset="0"/>
                <a:cs typeface="Times New Roman" panose="02020603050405020304" pitchFamily="18" charset="0"/>
              </a:rPr>
              <a:t>The system’s performance is highly dependent on the clarity and resolution of uploaded images — poor-quality photos may lead to incorrect predictions.</a:t>
            </a:r>
          </a:p>
          <a:p>
            <a:pPr marL="354965" indent="-342900" algn="just">
              <a:lnSpc>
                <a:spcPct val="150000"/>
              </a:lnSpc>
              <a:spcBef>
                <a:spcPts val="1185"/>
              </a:spcBef>
              <a:buFont typeface="Wingdings" panose="05000000000000000000" pitchFamily="2" charset="2"/>
              <a:buChar char="§"/>
              <a:tabLst>
                <a:tab pos="296545" algn="l"/>
              </a:tabLst>
            </a:pPr>
            <a:r>
              <a:rPr lang="en-US" sz="1900" dirty="0">
                <a:latin typeface="Times New Roman" panose="02020603050405020304" pitchFamily="18" charset="0"/>
                <a:cs typeface="Times New Roman" panose="02020603050405020304" pitchFamily="18" charset="0"/>
              </a:rPr>
              <a:t>The model has not yet been validated or approved by medical professionals, so it cannot fully replace dermatologist consultation.</a:t>
            </a:r>
          </a:p>
          <a:p>
            <a:pPr marL="354965" indent="-342900" algn="just">
              <a:lnSpc>
                <a:spcPct val="150000"/>
              </a:lnSpc>
              <a:spcBef>
                <a:spcPts val="1185"/>
              </a:spcBef>
              <a:buFont typeface="Wingdings" panose="05000000000000000000" pitchFamily="2" charset="2"/>
              <a:buChar char="§"/>
              <a:tabLst>
                <a:tab pos="296545" algn="l"/>
              </a:tabLst>
            </a:pPr>
            <a:r>
              <a:rPr lang="en-US" sz="1900" dirty="0">
                <a:latin typeface="Times New Roman" panose="02020603050405020304" pitchFamily="18" charset="0"/>
                <a:cs typeface="Times New Roman" panose="02020603050405020304" pitchFamily="18" charset="0"/>
              </a:rPr>
              <a:t>The system currently lacks the ability to continuously learn from new data or user feedback, restricting improvement over time.</a:t>
            </a:r>
          </a:p>
        </p:txBody>
      </p:sp>
      <p:sp>
        <p:nvSpPr>
          <p:cNvPr id="8" name="object 8"/>
          <p:cNvSpPr txBox="1">
            <a:spLocks noGrp="1"/>
          </p:cNvSpPr>
          <p:nvPr>
            <p:ph type="sldNum" sz="quarter" idx="7"/>
          </p:nvPr>
        </p:nvSpPr>
        <p:spPr>
          <a:xfrm>
            <a:off x="9189466" y="6934200"/>
            <a:ext cx="140334" cy="152400"/>
          </a:xfrm>
          <a:prstGeom prst="rect">
            <a:avLst/>
          </a:prstGeom>
        </p:spPr>
        <p:txBody>
          <a:bodyPr vert="horz" wrap="square" lIns="0" tIns="0" rIns="0" bIns="0" rtlCol="0">
            <a:spAutoFit/>
          </a:bodyPr>
          <a:lstStyle/>
          <a:p>
            <a:pPr marL="38100">
              <a:lnSpc>
                <a:spcPts val="1045"/>
              </a:lnSpc>
            </a:pPr>
            <a:fld id="{81D60167-4931-47E6-BA6A-407CBD079E47}" type="slidenum">
              <a:rPr spc="-5" dirty="0"/>
              <a:t>7</a:t>
            </a:fld>
            <a:endParaRPr spc="-5" dirty="0"/>
          </a:p>
        </p:txBody>
      </p:sp>
      <p:sp>
        <p:nvSpPr>
          <p:cNvPr id="9" name="Date Placeholder 8">
            <a:extLst>
              <a:ext uri="{FF2B5EF4-FFF2-40B4-BE49-F238E27FC236}">
                <a16:creationId xmlns:a16="http://schemas.microsoft.com/office/drawing/2014/main" id="{AE705632-3E2F-0B07-12EA-FF779FD2D230}"/>
              </a:ext>
            </a:extLst>
          </p:cNvPr>
          <p:cNvSpPr>
            <a:spLocks noGrp="1"/>
          </p:cNvSpPr>
          <p:nvPr>
            <p:ph type="dt" sz="half" idx="6"/>
          </p:nvPr>
        </p:nvSpPr>
        <p:spPr>
          <a:xfrm>
            <a:off x="769620" y="6934200"/>
            <a:ext cx="594360" cy="152400"/>
          </a:xfrm>
        </p:spPr>
        <p:txBody>
          <a:bodyPr/>
          <a:lstStyle/>
          <a:p>
            <a:pPr marL="12700">
              <a:lnSpc>
                <a:spcPts val="1045"/>
              </a:lnSpc>
            </a:pPr>
            <a:r>
              <a:rPr lang="en-US" spc="-25" dirty="0"/>
              <a:t>28-04-2025</a:t>
            </a:r>
          </a:p>
        </p:txBody>
      </p:sp>
      <p:sp>
        <p:nvSpPr>
          <p:cNvPr id="10" name="Footer Placeholder 9">
            <a:extLst>
              <a:ext uri="{FF2B5EF4-FFF2-40B4-BE49-F238E27FC236}">
                <a16:creationId xmlns:a16="http://schemas.microsoft.com/office/drawing/2014/main" id="{DEB113B8-BD5E-6F87-2ECB-23BB6129E0A8}"/>
              </a:ext>
            </a:extLst>
          </p:cNvPr>
          <p:cNvSpPr>
            <a:spLocks noGrp="1"/>
          </p:cNvSpPr>
          <p:nvPr>
            <p:ph type="ftr" sz="quarter" idx="5"/>
          </p:nvPr>
        </p:nvSpPr>
        <p:spPr>
          <a:xfrm>
            <a:off x="4038600" y="6939280"/>
            <a:ext cx="2773554" cy="406020"/>
          </a:xfrm>
        </p:spPr>
        <p:txBody>
          <a:bodyPr/>
          <a:lstStyle/>
          <a:p>
            <a:pPr marL="12700">
              <a:lnSpc>
                <a:spcPts val="1045"/>
              </a:lnSpc>
            </a:pPr>
            <a:r>
              <a:rPr lang="en-US" spc="-25"/>
              <a:t>SNSCT/CSE/Project/NCAIDIET'25_Conference</a:t>
            </a:r>
            <a:endParaRPr lang="en-US" spc="-5"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53815" y="228600"/>
            <a:ext cx="3335654" cy="429895"/>
          </a:xfrm>
          <a:prstGeom prst="rect">
            <a:avLst/>
          </a:prstGeom>
        </p:spPr>
        <p:txBody>
          <a:bodyPr vert="horz" wrap="square" lIns="0" tIns="12700" rIns="0" bIns="0" rtlCol="0">
            <a:spAutoFit/>
          </a:bodyPr>
          <a:lstStyle/>
          <a:p>
            <a:pPr marL="12700">
              <a:lnSpc>
                <a:spcPct val="100000"/>
              </a:lnSpc>
              <a:spcBef>
                <a:spcPts val="100"/>
              </a:spcBef>
            </a:pPr>
            <a:r>
              <a:rPr sz="2650" dirty="0"/>
              <a:t>PROPOSED</a:t>
            </a:r>
            <a:r>
              <a:rPr sz="2650" spc="-175" dirty="0"/>
              <a:t> </a:t>
            </a:r>
            <a:r>
              <a:rPr sz="2650" spc="-15" dirty="0"/>
              <a:t>S</a:t>
            </a:r>
            <a:r>
              <a:rPr sz="2650" dirty="0"/>
              <a:t>Y</a:t>
            </a:r>
            <a:r>
              <a:rPr sz="2650" spc="-25" dirty="0"/>
              <a:t>E</a:t>
            </a:r>
            <a:r>
              <a:rPr sz="2650" spc="-20" dirty="0"/>
              <a:t>TE</a:t>
            </a:r>
            <a:r>
              <a:rPr sz="2650" dirty="0"/>
              <a:t>M</a:t>
            </a:r>
            <a:endParaRPr sz="2650"/>
          </a:p>
        </p:txBody>
      </p:sp>
      <p:sp>
        <p:nvSpPr>
          <p:cNvPr id="3" name="object 3"/>
          <p:cNvSpPr txBox="1"/>
          <p:nvPr/>
        </p:nvSpPr>
        <p:spPr>
          <a:xfrm>
            <a:off x="769365" y="1219200"/>
            <a:ext cx="8560435" cy="5267468"/>
          </a:xfrm>
          <a:prstGeom prst="rect">
            <a:avLst/>
          </a:prstGeom>
        </p:spPr>
        <p:txBody>
          <a:bodyPr vert="horz" wrap="square" lIns="0" tIns="12700" rIns="0" bIns="0" rtlCol="0">
            <a:spAutoFit/>
          </a:bodyPr>
          <a:lstStyle/>
          <a:p>
            <a:pPr marL="297815" marR="7620" indent="-285750" algn="just">
              <a:lnSpc>
                <a:spcPct val="150000"/>
              </a:lnSpc>
              <a:spcBef>
                <a:spcPts val="100"/>
              </a:spcBef>
              <a:buSzPct val="94444"/>
              <a:buFont typeface="Wingdings" panose="05000000000000000000" pitchFamily="2" charset="2"/>
              <a:buChar char="§"/>
              <a:tabLst>
                <a:tab pos="201930" algn="l"/>
              </a:tabLst>
            </a:pPr>
            <a:r>
              <a:rPr lang="en-US" sz="1900" dirty="0">
                <a:latin typeface="Times New Roman" panose="02020603050405020304" pitchFamily="18" charset="0"/>
                <a:cs typeface="Times New Roman" panose="02020603050405020304" pitchFamily="18" charset="0"/>
              </a:rPr>
              <a:t>The proposed system uses Convolutional Neural Networks (CNNs) to automatically classify different types of skin lesions from the HAM10000 dataset, improving diagnostic accuracy.</a:t>
            </a:r>
          </a:p>
          <a:p>
            <a:pPr marL="297815" marR="7620" indent="-285750" algn="just">
              <a:lnSpc>
                <a:spcPct val="150000"/>
              </a:lnSpc>
              <a:spcBef>
                <a:spcPts val="100"/>
              </a:spcBef>
              <a:buSzPct val="94444"/>
              <a:buFont typeface="Wingdings" panose="05000000000000000000" pitchFamily="2" charset="2"/>
              <a:buChar char="§"/>
              <a:tabLst>
                <a:tab pos="201930" algn="l"/>
              </a:tabLst>
            </a:pPr>
            <a:r>
              <a:rPr lang="en-US" sz="1900" dirty="0">
                <a:latin typeface="Times New Roman" panose="02020603050405020304" pitchFamily="18" charset="0"/>
                <a:cs typeface="Times New Roman" panose="02020603050405020304" pitchFamily="18" charset="0"/>
              </a:rPr>
              <a:t>We developed a deep learning model using MobileNetV2 that accurately classifies 8 types of skin lesions with 85%+ accuracy. The system provides real-time analysis with confidence scores for reliable preliminary screening.</a:t>
            </a:r>
          </a:p>
          <a:p>
            <a:pPr marL="297815" marR="7620" indent="-285750" algn="just">
              <a:lnSpc>
                <a:spcPct val="150000"/>
              </a:lnSpc>
              <a:spcBef>
                <a:spcPts val="100"/>
              </a:spcBef>
              <a:buSzPct val="94444"/>
              <a:buFont typeface="Wingdings" panose="05000000000000000000" pitchFamily="2" charset="2"/>
              <a:buChar char="§"/>
              <a:tabLst>
                <a:tab pos="201930" algn="l"/>
              </a:tabLst>
            </a:pPr>
            <a:r>
              <a:rPr lang="en-US" sz="1900" dirty="0">
                <a:latin typeface="Times New Roman" panose="02020603050405020304" pitchFamily="18" charset="0"/>
                <a:cs typeface="Times New Roman" panose="02020603050405020304" pitchFamily="18" charset="0"/>
              </a:rPr>
              <a:t>We created a user-friendly Flask-based web interface that allows instant image upload and processing. The platform delivers comprehensive results with clear visual indicators and medical disclaimers.</a:t>
            </a:r>
          </a:p>
          <a:p>
            <a:pPr marL="297815" marR="7620" indent="-285750" algn="just">
              <a:lnSpc>
                <a:spcPct val="150000"/>
              </a:lnSpc>
              <a:spcBef>
                <a:spcPts val="100"/>
              </a:spcBef>
              <a:buSzPct val="94444"/>
              <a:buFont typeface="Wingdings" panose="05000000000000000000" pitchFamily="2" charset="2"/>
              <a:buChar char="§"/>
              <a:tabLst>
                <a:tab pos="201930" algn="l"/>
              </a:tabLst>
            </a:pPr>
            <a:r>
              <a:rPr lang="en-US" sz="1900" dirty="0">
                <a:latin typeface="Times New Roman" panose="02020603050405020304" pitchFamily="18" charset="0"/>
                <a:cs typeface="Times New Roman" panose="02020603050405020304" pitchFamily="18" charset="0"/>
              </a:rPr>
              <a:t>We implemented Generative AI recommendations for personalized treatment guidance and specialist referrals. The system includes doctor connections and preventive care advice for complete patient support.</a:t>
            </a:r>
          </a:p>
        </p:txBody>
      </p:sp>
      <p:pic>
        <p:nvPicPr>
          <p:cNvPr id="4" name="object 4"/>
          <p:cNvPicPr/>
          <p:nvPr/>
        </p:nvPicPr>
        <p:blipFill>
          <a:blip r:embed="rId2" cstate="print"/>
          <a:stretch>
            <a:fillRect/>
          </a:stretch>
        </p:blipFill>
        <p:spPr>
          <a:xfrm>
            <a:off x="232168" y="152400"/>
            <a:ext cx="770089" cy="754380"/>
          </a:xfrm>
          <a:prstGeom prst="rect">
            <a:avLst/>
          </a:prstGeom>
        </p:spPr>
      </p:pic>
      <p:pic>
        <p:nvPicPr>
          <p:cNvPr id="5" name="object 5"/>
          <p:cNvPicPr/>
          <p:nvPr/>
        </p:nvPicPr>
        <p:blipFill>
          <a:blip r:embed="rId3" cstate="print"/>
          <a:stretch>
            <a:fillRect/>
          </a:stretch>
        </p:blipFill>
        <p:spPr>
          <a:xfrm>
            <a:off x="8990076" y="228600"/>
            <a:ext cx="905255" cy="531876"/>
          </a:xfrm>
          <a:prstGeom prst="rect">
            <a:avLst/>
          </a:prstGeom>
        </p:spPr>
      </p:pic>
      <p:sp>
        <p:nvSpPr>
          <p:cNvPr id="8" name="object 8"/>
          <p:cNvSpPr txBox="1">
            <a:spLocks noGrp="1"/>
          </p:cNvSpPr>
          <p:nvPr>
            <p:ph type="sldNum" sz="quarter" idx="7"/>
          </p:nvPr>
        </p:nvSpPr>
        <p:spPr>
          <a:xfrm>
            <a:off x="9189466" y="7086600"/>
            <a:ext cx="140334" cy="152400"/>
          </a:xfrm>
          <a:prstGeom prst="rect">
            <a:avLst/>
          </a:prstGeom>
        </p:spPr>
        <p:txBody>
          <a:bodyPr vert="horz" wrap="square" lIns="0" tIns="0" rIns="0" bIns="0" rtlCol="0">
            <a:spAutoFit/>
          </a:bodyPr>
          <a:lstStyle/>
          <a:p>
            <a:pPr marL="38100">
              <a:lnSpc>
                <a:spcPts val="1045"/>
              </a:lnSpc>
            </a:pPr>
            <a:fld id="{81D60167-4931-47E6-BA6A-407CBD079E47}" type="slidenum">
              <a:rPr spc="-5" dirty="0"/>
              <a:t>8</a:t>
            </a:fld>
            <a:endParaRPr spc="-5" dirty="0"/>
          </a:p>
        </p:txBody>
      </p:sp>
      <p:sp>
        <p:nvSpPr>
          <p:cNvPr id="9" name="Date Placeholder 8">
            <a:extLst>
              <a:ext uri="{FF2B5EF4-FFF2-40B4-BE49-F238E27FC236}">
                <a16:creationId xmlns:a16="http://schemas.microsoft.com/office/drawing/2014/main" id="{98C4D00B-8EC4-B164-59B7-1CFD52D4A3FD}"/>
              </a:ext>
            </a:extLst>
          </p:cNvPr>
          <p:cNvSpPr>
            <a:spLocks noGrp="1"/>
          </p:cNvSpPr>
          <p:nvPr>
            <p:ph type="dt" sz="half" idx="6"/>
          </p:nvPr>
        </p:nvSpPr>
        <p:spPr>
          <a:xfrm>
            <a:off x="769365" y="7061010"/>
            <a:ext cx="594360" cy="152400"/>
          </a:xfrm>
        </p:spPr>
        <p:txBody>
          <a:bodyPr/>
          <a:lstStyle/>
          <a:p>
            <a:pPr marL="12700">
              <a:lnSpc>
                <a:spcPts val="1045"/>
              </a:lnSpc>
            </a:pPr>
            <a:r>
              <a:rPr lang="en-US" spc="-25" dirty="0"/>
              <a:t>28-04-2025</a:t>
            </a:r>
          </a:p>
        </p:txBody>
      </p:sp>
      <p:sp>
        <p:nvSpPr>
          <p:cNvPr id="10" name="Footer Placeholder 9">
            <a:extLst>
              <a:ext uri="{FF2B5EF4-FFF2-40B4-BE49-F238E27FC236}">
                <a16:creationId xmlns:a16="http://schemas.microsoft.com/office/drawing/2014/main" id="{DC704A0F-A026-E96C-EF2E-51A84883F0DE}"/>
              </a:ext>
            </a:extLst>
          </p:cNvPr>
          <p:cNvSpPr>
            <a:spLocks noGrp="1"/>
          </p:cNvSpPr>
          <p:nvPr>
            <p:ph type="ftr" sz="quarter" idx="5"/>
          </p:nvPr>
        </p:nvSpPr>
        <p:spPr>
          <a:xfrm>
            <a:off x="3962400" y="7086600"/>
            <a:ext cx="2605023" cy="253620"/>
          </a:xfrm>
        </p:spPr>
        <p:txBody>
          <a:bodyPr/>
          <a:lstStyle/>
          <a:p>
            <a:pPr marL="12700">
              <a:lnSpc>
                <a:spcPts val="1045"/>
              </a:lnSpc>
            </a:pPr>
            <a:r>
              <a:rPr lang="en-US" spc="-25"/>
              <a:t>SNSCT/CSE/Project/NCAIDIET'25_Conference</a:t>
            </a:r>
            <a:endParaRPr lang="en-US" spc="-5"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9906" y="243076"/>
            <a:ext cx="4418585" cy="420628"/>
          </a:xfrm>
          <a:prstGeom prst="rect">
            <a:avLst/>
          </a:prstGeom>
        </p:spPr>
        <p:txBody>
          <a:bodyPr vert="horz" wrap="square" lIns="0" tIns="12700" rIns="0" bIns="0" rtlCol="0">
            <a:spAutoFit/>
          </a:bodyPr>
          <a:lstStyle/>
          <a:p>
            <a:pPr marL="12700">
              <a:lnSpc>
                <a:spcPct val="100000"/>
              </a:lnSpc>
              <a:spcBef>
                <a:spcPts val="100"/>
              </a:spcBef>
            </a:pPr>
            <a:r>
              <a:rPr lang="en-US" sz="2650" dirty="0"/>
              <a:t>SYSTEM FLOW DIAGRAM </a:t>
            </a:r>
            <a:endParaRPr sz="2650" dirty="0"/>
          </a:p>
        </p:txBody>
      </p:sp>
      <p:pic>
        <p:nvPicPr>
          <p:cNvPr id="4" name="object 4"/>
          <p:cNvPicPr/>
          <p:nvPr/>
        </p:nvPicPr>
        <p:blipFill>
          <a:blip r:embed="rId2" cstate="print"/>
          <a:stretch>
            <a:fillRect/>
          </a:stretch>
        </p:blipFill>
        <p:spPr>
          <a:xfrm>
            <a:off x="232168" y="76200"/>
            <a:ext cx="770089" cy="754380"/>
          </a:xfrm>
          <a:prstGeom prst="rect">
            <a:avLst/>
          </a:prstGeom>
        </p:spPr>
      </p:pic>
      <p:pic>
        <p:nvPicPr>
          <p:cNvPr id="5" name="object 5"/>
          <p:cNvPicPr/>
          <p:nvPr/>
        </p:nvPicPr>
        <p:blipFill>
          <a:blip r:embed="rId3" cstate="print"/>
          <a:stretch>
            <a:fillRect/>
          </a:stretch>
        </p:blipFill>
        <p:spPr>
          <a:xfrm>
            <a:off x="8990076" y="268097"/>
            <a:ext cx="905255" cy="531876"/>
          </a:xfrm>
          <a:prstGeom prst="rect">
            <a:avLst/>
          </a:prstGeom>
        </p:spPr>
      </p:pic>
      <p:sp>
        <p:nvSpPr>
          <p:cNvPr id="8" name="object 8"/>
          <p:cNvSpPr txBox="1">
            <a:spLocks noGrp="1"/>
          </p:cNvSpPr>
          <p:nvPr>
            <p:ph type="sldNum" sz="quarter" idx="7"/>
          </p:nvPr>
        </p:nvSpPr>
        <p:spPr>
          <a:xfrm>
            <a:off x="9189466" y="7086600"/>
            <a:ext cx="251722" cy="130036"/>
          </a:xfrm>
          <a:prstGeom prst="rect">
            <a:avLst/>
          </a:prstGeom>
        </p:spPr>
        <p:txBody>
          <a:bodyPr vert="horz" wrap="square" lIns="0" tIns="0" rIns="0" bIns="0" rtlCol="0">
            <a:spAutoFit/>
          </a:bodyPr>
          <a:lstStyle/>
          <a:p>
            <a:pPr marL="38100">
              <a:lnSpc>
                <a:spcPts val="1045"/>
              </a:lnSpc>
            </a:pPr>
            <a:fld id="{81D60167-4931-47E6-BA6A-407CBD079E47}" type="slidenum">
              <a:rPr spc="-5" dirty="0"/>
              <a:t>9</a:t>
            </a:fld>
            <a:endParaRPr spc="-5" dirty="0"/>
          </a:p>
        </p:txBody>
      </p:sp>
      <p:pic>
        <p:nvPicPr>
          <p:cNvPr id="38" name="Picture 37">
            <a:extLst>
              <a:ext uri="{FF2B5EF4-FFF2-40B4-BE49-F238E27FC236}">
                <a16:creationId xmlns:a16="http://schemas.microsoft.com/office/drawing/2014/main" id="{43E84234-507E-FC12-F983-05E9C2BE1E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96460" y="1015402"/>
            <a:ext cx="4418585" cy="5719499"/>
          </a:xfrm>
          <a:prstGeom prst="rect">
            <a:avLst/>
          </a:prstGeom>
        </p:spPr>
      </p:pic>
      <p:sp>
        <p:nvSpPr>
          <p:cNvPr id="6" name="Date Placeholder 5">
            <a:extLst>
              <a:ext uri="{FF2B5EF4-FFF2-40B4-BE49-F238E27FC236}">
                <a16:creationId xmlns:a16="http://schemas.microsoft.com/office/drawing/2014/main" id="{C379DA64-77C3-C2A6-AEAA-5309F7826BBD}"/>
              </a:ext>
            </a:extLst>
          </p:cNvPr>
          <p:cNvSpPr>
            <a:spLocks noGrp="1"/>
          </p:cNvSpPr>
          <p:nvPr>
            <p:ph type="dt" sz="half" idx="6"/>
          </p:nvPr>
        </p:nvSpPr>
        <p:spPr>
          <a:xfrm>
            <a:off x="617212" y="7122740"/>
            <a:ext cx="594360" cy="152400"/>
          </a:xfrm>
        </p:spPr>
        <p:txBody>
          <a:bodyPr/>
          <a:lstStyle/>
          <a:p>
            <a:pPr marL="12700">
              <a:lnSpc>
                <a:spcPts val="1045"/>
              </a:lnSpc>
            </a:pPr>
            <a:r>
              <a:rPr lang="en-US" spc="-25" dirty="0"/>
              <a:t>28-04-2025</a:t>
            </a:r>
          </a:p>
        </p:txBody>
      </p:sp>
      <p:sp>
        <p:nvSpPr>
          <p:cNvPr id="9" name="Footer Placeholder 8">
            <a:extLst>
              <a:ext uri="{FF2B5EF4-FFF2-40B4-BE49-F238E27FC236}">
                <a16:creationId xmlns:a16="http://schemas.microsoft.com/office/drawing/2014/main" id="{EB3C46A3-7ACB-59A9-7F6F-50F0E81210ED}"/>
              </a:ext>
            </a:extLst>
          </p:cNvPr>
          <p:cNvSpPr>
            <a:spLocks noGrp="1"/>
          </p:cNvSpPr>
          <p:nvPr>
            <p:ph type="ftr" sz="quarter" idx="5"/>
          </p:nvPr>
        </p:nvSpPr>
        <p:spPr>
          <a:xfrm>
            <a:off x="3962400" y="7095580"/>
            <a:ext cx="2697354" cy="359121"/>
          </a:xfrm>
        </p:spPr>
        <p:txBody>
          <a:bodyPr/>
          <a:lstStyle/>
          <a:p>
            <a:pPr marL="12700">
              <a:lnSpc>
                <a:spcPts val="1045"/>
              </a:lnSpc>
            </a:pPr>
            <a:r>
              <a:rPr lang="en-US" spc="-25" dirty="0"/>
              <a:t>SNSCT/CSE/Project/NCAIDIET'25_Conference</a:t>
            </a:r>
            <a:endParaRPr lang="en-US" spc="-5" dirty="0"/>
          </a:p>
        </p:txBody>
      </p:sp>
    </p:spTree>
    <p:extLst>
      <p:ext uri="{BB962C8B-B14F-4D97-AF65-F5344CB8AC3E}">
        <p14:creationId xmlns:p14="http://schemas.microsoft.com/office/powerpoint/2010/main" val="259111069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24200" y="243076"/>
            <a:ext cx="4037585" cy="420628"/>
          </a:xfrm>
          <a:prstGeom prst="rect">
            <a:avLst/>
          </a:prstGeom>
        </p:spPr>
        <p:txBody>
          <a:bodyPr vert="horz" wrap="square" lIns="0" tIns="12700" rIns="0" bIns="0" rtlCol="0">
            <a:spAutoFit/>
          </a:bodyPr>
          <a:lstStyle/>
          <a:p>
            <a:pPr marL="12700">
              <a:lnSpc>
                <a:spcPct val="100000"/>
              </a:lnSpc>
              <a:spcBef>
                <a:spcPts val="100"/>
              </a:spcBef>
            </a:pPr>
            <a:r>
              <a:rPr lang="en-US" sz="2650" dirty="0"/>
              <a:t>TECHNOLOGIES USED</a:t>
            </a:r>
            <a:endParaRPr sz="2650" dirty="0"/>
          </a:p>
        </p:txBody>
      </p:sp>
      <p:pic>
        <p:nvPicPr>
          <p:cNvPr id="4" name="object 4"/>
          <p:cNvPicPr/>
          <p:nvPr/>
        </p:nvPicPr>
        <p:blipFill>
          <a:blip r:embed="rId2" cstate="print"/>
          <a:stretch>
            <a:fillRect/>
          </a:stretch>
        </p:blipFill>
        <p:spPr>
          <a:xfrm>
            <a:off x="232168" y="76200"/>
            <a:ext cx="770089" cy="754380"/>
          </a:xfrm>
          <a:prstGeom prst="rect">
            <a:avLst/>
          </a:prstGeom>
        </p:spPr>
      </p:pic>
      <p:pic>
        <p:nvPicPr>
          <p:cNvPr id="5" name="object 5"/>
          <p:cNvPicPr/>
          <p:nvPr/>
        </p:nvPicPr>
        <p:blipFill>
          <a:blip r:embed="rId3" cstate="print"/>
          <a:stretch>
            <a:fillRect/>
          </a:stretch>
        </p:blipFill>
        <p:spPr>
          <a:xfrm>
            <a:off x="8990076" y="268097"/>
            <a:ext cx="905255" cy="531876"/>
          </a:xfrm>
          <a:prstGeom prst="rect">
            <a:avLst/>
          </a:prstGeom>
        </p:spPr>
      </p:pic>
      <p:sp>
        <p:nvSpPr>
          <p:cNvPr id="8" name="object 8"/>
          <p:cNvSpPr txBox="1">
            <a:spLocks noGrp="1"/>
          </p:cNvSpPr>
          <p:nvPr>
            <p:ph type="sldNum" sz="quarter" idx="7"/>
          </p:nvPr>
        </p:nvSpPr>
        <p:spPr>
          <a:xfrm>
            <a:off x="9189466" y="7086599"/>
            <a:ext cx="487934" cy="130036"/>
          </a:xfrm>
          <a:prstGeom prst="rect">
            <a:avLst/>
          </a:prstGeom>
        </p:spPr>
        <p:txBody>
          <a:bodyPr vert="horz" wrap="square" lIns="0" tIns="0" rIns="0" bIns="0" rtlCol="0">
            <a:spAutoFit/>
          </a:bodyPr>
          <a:lstStyle/>
          <a:p>
            <a:pPr marL="38100">
              <a:lnSpc>
                <a:spcPts val="1045"/>
              </a:lnSpc>
            </a:pPr>
            <a:fld id="{81D60167-4931-47E6-BA6A-407CBD079E47}" type="slidenum">
              <a:rPr spc="-5" dirty="0"/>
              <a:t>10</a:t>
            </a:fld>
            <a:endParaRPr spc="-5" dirty="0"/>
          </a:p>
        </p:txBody>
      </p:sp>
      <p:sp>
        <p:nvSpPr>
          <p:cNvPr id="16" name="TextBox 15">
            <a:extLst>
              <a:ext uri="{FF2B5EF4-FFF2-40B4-BE49-F238E27FC236}">
                <a16:creationId xmlns:a16="http://schemas.microsoft.com/office/drawing/2014/main" id="{189BA894-504D-491C-DDC5-C156C86BCF0A}"/>
              </a:ext>
            </a:extLst>
          </p:cNvPr>
          <p:cNvSpPr txBox="1"/>
          <p:nvPr/>
        </p:nvSpPr>
        <p:spPr>
          <a:xfrm>
            <a:off x="614318" y="1258891"/>
            <a:ext cx="4508444" cy="2585323"/>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Frontend Development:</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HTML5, CSS3, JavaScript (ES6+)</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Bootstrap 5.3.2 for responsive design</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jQuery for DOM manipulation</a:t>
            </a:r>
          </a:p>
          <a:p>
            <a:r>
              <a:rPr lang="en-IN" b="1" dirty="0">
                <a:latin typeface="Times New Roman" panose="02020603050405020304" pitchFamily="18" charset="0"/>
                <a:cs typeface="Times New Roman" panose="02020603050405020304" pitchFamily="18" charset="0"/>
              </a:rPr>
              <a:t>Backend Development:</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Python 3.x as core programming language</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Flask web framework for application server</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REST API architecture for communication</a:t>
            </a:r>
          </a:p>
          <a:p>
            <a:endParaRPr lang="en-IN" dirty="0"/>
          </a:p>
        </p:txBody>
      </p:sp>
      <p:sp>
        <p:nvSpPr>
          <p:cNvPr id="6" name="Date Placeholder 5">
            <a:extLst>
              <a:ext uri="{FF2B5EF4-FFF2-40B4-BE49-F238E27FC236}">
                <a16:creationId xmlns:a16="http://schemas.microsoft.com/office/drawing/2014/main" id="{7DFB2130-0411-C980-C1B8-9268D6E8F646}"/>
              </a:ext>
            </a:extLst>
          </p:cNvPr>
          <p:cNvSpPr>
            <a:spLocks noGrp="1"/>
          </p:cNvSpPr>
          <p:nvPr>
            <p:ph type="dt" sz="half" idx="6"/>
          </p:nvPr>
        </p:nvSpPr>
        <p:spPr>
          <a:xfrm>
            <a:off x="705077" y="7050071"/>
            <a:ext cx="594360" cy="152400"/>
          </a:xfrm>
        </p:spPr>
        <p:txBody>
          <a:bodyPr/>
          <a:lstStyle/>
          <a:p>
            <a:pPr marL="12700">
              <a:lnSpc>
                <a:spcPts val="1045"/>
              </a:lnSpc>
            </a:pPr>
            <a:r>
              <a:rPr lang="en-US" spc="-25" dirty="0"/>
              <a:t>28-04-2025</a:t>
            </a:r>
          </a:p>
        </p:txBody>
      </p:sp>
      <p:sp>
        <p:nvSpPr>
          <p:cNvPr id="9" name="Footer Placeholder 8">
            <a:extLst>
              <a:ext uri="{FF2B5EF4-FFF2-40B4-BE49-F238E27FC236}">
                <a16:creationId xmlns:a16="http://schemas.microsoft.com/office/drawing/2014/main" id="{C5501B5C-E9D5-2616-F845-52F7CC87FB6A}"/>
              </a:ext>
            </a:extLst>
          </p:cNvPr>
          <p:cNvSpPr>
            <a:spLocks noGrp="1"/>
          </p:cNvSpPr>
          <p:nvPr>
            <p:ph type="ftr" sz="quarter" idx="5"/>
          </p:nvPr>
        </p:nvSpPr>
        <p:spPr>
          <a:xfrm>
            <a:off x="4094162" y="7075417"/>
            <a:ext cx="2306638" cy="213468"/>
          </a:xfrm>
        </p:spPr>
        <p:txBody>
          <a:bodyPr/>
          <a:lstStyle/>
          <a:p>
            <a:pPr marL="12700">
              <a:lnSpc>
                <a:spcPts val="1045"/>
              </a:lnSpc>
            </a:pPr>
            <a:r>
              <a:rPr lang="en-US" spc="-25" dirty="0"/>
              <a:t>SNSCT/CSE/Project/NCAIDIET'25_Conference</a:t>
            </a:r>
            <a:endParaRPr lang="en-US" spc="-5" dirty="0"/>
          </a:p>
        </p:txBody>
      </p:sp>
      <p:sp>
        <p:nvSpPr>
          <p:cNvPr id="13" name="TextBox 12">
            <a:extLst>
              <a:ext uri="{FF2B5EF4-FFF2-40B4-BE49-F238E27FC236}">
                <a16:creationId xmlns:a16="http://schemas.microsoft.com/office/drawing/2014/main" id="{51C9E89F-19D0-40AE-3056-7E72C67A9D45}"/>
              </a:ext>
            </a:extLst>
          </p:cNvPr>
          <p:cNvSpPr txBox="1"/>
          <p:nvPr/>
        </p:nvSpPr>
        <p:spPr>
          <a:xfrm>
            <a:off x="5244587" y="2148719"/>
            <a:ext cx="5029200" cy="341632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Artificial Intelligence &amp; Machine Learning:</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TensorFlow &amp; </a:t>
            </a:r>
            <a:r>
              <a:rPr lang="en-IN" dirty="0" err="1">
                <a:latin typeface="Times New Roman" panose="02020603050405020304" pitchFamily="18" charset="0"/>
                <a:cs typeface="Times New Roman" panose="02020603050405020304" pitchFamily="18" charset="0"/>
              </a:rPr>
              <a:t>Keras</a:t>
            </a:r>
            <a:r>
              <a:rPr lang="en-IN" dirty="0">
                <a:latin typeface="Times New Roman" panose="02020603050405020304" pitchFamily="18" charset="0"/>
                <a:cs typeface="Times New Roman" panose="02020603050405020304" pitchFamily="18" charset="0"/>
              </a:rPr>
              <a:t> for deep learning</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MobileNetV2 for transfer learning</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OpenCV for image processing</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scikit-learn for data preprocessing</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NumPy &amp; Pandas for data manipulation</a:t>
            </a:r>
          </a:p>
          <a:p>
            <a:r>
              <a:rPr lang="en-IN" b="1" dirty="0">
                <a:latin typeface="Times New Roman" panose="02020603050405020304" pitchFamily="18" charset="0"/>
                <a:cs typeface="Times New Roman" panose="02020603050405020304" pitchFamily="18" charset="0"/>
              </a:rPr>
              <a:t>Data Management:</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HAM10000 dataset (10,000+ </a:t>
            </a:r>
            <a:r>
              <a:rPr lang="en-IN" dirty="0" err="1">
                <a:latin typeface="Times New Roman" panose="02020603050405020304" pitchFamily="18" charset="0"/>
                <a:cs typeface="Times New Roman" panose="02020603050405020304" pitchFamily="18" charset="0"/>
              </a:rPr>
              <a:t>dermatoscopic</a:t>
            </a:r>
            <a:r>
              <a:rPr lang="en-IN" dirty="0">
                <a:latin typeface="Times New Roman" panose="02020603050405020304" pitchFamily="18" charset="0"/>
                <a:cs typeface="Times New Roman" panose="02020603050405020304" pitchFamily="18" charset="0"/>
              </a:rPr>
              <a:t> images)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Local file system storage for uploaded images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JSON for configuration files</a:t>
            </a:r>
          </a:p>
          <a:p>
            <a:pPr marL="285750" indent="-285750">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Joblib</a:t>
            </a:r>
            <a:r>
              <a:rPr lang="en-IN" dirty="0">
                <a:latin typeface="Times New Roman" panose="02020603050405020304" pitchFamily="18" charset="0"/>
                <a:cs typeface="Times New Roman" panose="02020603050405020304" pitchFamily="18" charset="0"/>
              </a:rPr>
              <a:t> for model serialization</a:t>
            </a:r>
          </a:p>
        </p:txBody>
      </p:sp>
      <p:sp>
        <p:nvSpPr>
          <p:cNvPr id="15" name="TextBox 14">
            <a:extLst>
              <a:ext uri="{FF2B5EF4-FFF2-40B4-BE49-F238E27FC236}">
                <a16:creationId xmlns:a16="http://schemas.microsoft.com/office/drawing/2014/main" id="{66621D84-5AB7-D2C0-A22E-0A70E661AACB}"/>
              </a:ext>
            </a:extLst>
          </p:cNvPr>
          <p:cNvSpPr txBox="1"/>
          <p:nvPr/>
        </p:nvSpPr>
        <p:spPr>
          <a:xfrm>
            <a:off x="614318" y="4036437"/>
            <a:ext cx="5087072" cy="3139321"/>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Development &amp; Deployment:</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Jupyter</a:t>
            </a:r>
            <a:r>
              <a:rPr lang="en-IN" dirty="0">
                <a:latin typeface="Times New Roman" panose="02020603050405020304" pitchFamily="18" charset="0"/>
                <a:cs typeface="Times New Roman" panose="02020603050405020304" pitchFamily="18" charset="0"/>
              </a:rPr>
              <a:t> Notebook for model development</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Visual Studio Code as primary IDE</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Local Flask server for deployment</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Git for version control</a:t>
            </a:r>
          </a:p>
          <a:p>
            <a:r>
              <a:rPr lang="en-IN" b="1" dirty="0">
                <a:latin typeface="Times New Roman" panose="02020603050405020304" pitchFamily="18" charset="0"/>
                <a:cs typeface="Times New Roman" panose="02020603050405020304" pitchFamily="18" charset="0"/>
              </a:rPr>
              <a:t>Additional Libraries:</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Matplotlib &amp; Seaborn for data visualization</a:t>
            </a:r>
          </a:p>
          <a:p>
            <a:pPr marL="285750" indent="-285750">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ImageDataGenerator</a:t>
            </a:r>
            <a:r>
              <a:rPr lang="en-IN" dirty="0">
                <a:latin typeface="Times New Roman" panose="02020603050405020304" pitchFamily="18" charset="0"/>
                <a:cs typeface="Times New Roman" panose="02020603050405020304" pitchFamily="18" charset="0"/>
              </a:rPr>
              <a:t> for data augmentation</a:t>
            </a:r>
          </a:p>
          <a:p>
            <a:pPr marL="285750" indent="-285750">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LabelEncoder</a:t>
            </a:r>
            <a:r>
              <a:rPr lang="en-IN" dirty="0">
                <a:latin typeface="Times New Roman" panose="02020603050405020304" pitchFamily="18" charset="0"/>
                <a:cs typeface="Times New Roman" panose="02020603050405020304" pitchFamily="18" charset="0"/>
              </a:rPr>
              <a:t> for categorical data handling</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Train-test-split for model validation</a:t>
            </a:r>
          </a:p>
          <a:p>
            <a:endParaRPr lang="en-IN" dirty="0"/>
          </a:p>
        </p:txBody>
      </p:sp>
    </p:spTree>
    <p:extLst>
      <p:ext uri="{BB962C8B-B14F-4D97-AF65-F5344CB8AC3E}">
        <p14:creationId xmlns:p14="http://schemas.microsoft.com/office/powerpoint/2010/main" val="185016706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F8DDB-4BCA-6925-F5CB-570C02BAA97A}"/>
              </a:ext>
            </a:extLst>
          </p:cNvPr>
          <p:cNvSpPr>
            <a:spLocks noGrp="1"/>
          </p:cNvSpPr>
          <p:nvPr>
            <p:ph type="title"/>
          </p:nvPr>
        </p:nvSpPr>
        <p:spPr>
          <a:xfrm>
            <a:off x="2362200" y="649918"/>
            <a:ext cx="5333999" cy="861774"/>
          </a:xfrm>
        </p:spPr>
        <p:txBody>
          <a:bodyPr/>
          <a:lstStyle/>
          <a:p>
            <a:pPr algn="ctr"/>
            <a:r>
              <a:rPr lang="en-US" sz="2800" dirty="0"/>
              <a:t>SYSTEM ARCHITECTURE</a:t>
            </a:r>
            <a:endParaRPr lang="en-IN" sz="2800" dirty="0"/>
          </a:p>
        </p:txBody>
      </p:sp>
      <p:sp>
        <p:nvSpPr>
          <p:cNvPr id="6" name="Slide Number Placeholder 5">
            <a:extLst>
              <a:ext uri="{FF2B5EF4-FFF2-40B4-BE49-F238E27FC236}">
                <a16:creationId xmlns:a16="http://schemas.microsoft.com/office/drawing/2014/main" id="{F019A0C9-9CBF-D507-E78C-62F60DA13CE8}"/>
              </a:ext>
            </a:extLst>
          </p:cNvPr>
          <p:cNvSpPr>
            <a:spLocks noGrp="1"/>
          </p:cNvSpPr>
          <p:nvPr>
            <p:ph type="sldNum" sz="quarter" idx="7"/>
          </p:nvPr>
        </p:nvSpPr>
        <p:spPr>
          <a:xfrm>
            <a:off x="9028977" y="7002397"/>
            <a:ext cx="411734" cy="177420"/>
          </a:xfrm>
        </p:spPr>
        <p:txBody>
          <a:bodyPr/>
          <a:lstStyle/>
          <a:p>
            <a:pPr marL="38100">
              <a:lnSpc>
                <a:spcPts val="1045"/>
              </a:lnSpc>
            </a:pPr>
            <a:fld id="{81D60167-4931-47E6-BA6A-407CBD079E47}" type="slidenum">
              <a:rPr lang="en-IN" spc="-5" smtClean="0"/>
              <a:t>11</a:t>
            </a:fld>
            <a:endParaRPr lang="en-IN" spc="-5" dirty="0"/>
          </a:p>
        </p:txBody>
      </p:sp>
      <p:pic>
        <p:nvPicPr>
          <p:cNvPr id="8" name="Picture 7">
            <a:extLst>
              <a:ext uri="{FF2B5EF4-FFF2-40B4-BE49-F238E27FC236}">
                <a16:creationId xmlns:a16="http://schemas.microsoft.com/office/drawing/2014/main" id="{817D203A-721F-6F1E-8A3D-C1C7121118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1244220"/>
            <a:ext cx="6858000" cy="4572000"/>
          </a:xfrm>
          <a:prstGeom prst="rect">
            <a:avLst/>
          </a:prstGeom>
        </p:spPr>
      </p:pic>
      <p:pic>
        <p:nvPicPr>
          <p:cNvPr id="9" name="object 5">
            <a:extLst>
              <a:ext uri="{FF2B5EF4-FFF2-40B4-BE49-F238E27FC236}">
                <a16:creationId xmlns:a16="http://schemas.microsoft.com/office/drawing/2014/main" id="{38A03F23-A6AC-6E04-BF5E-8B48B7FE4024}"/>
              </a:ext>
            </a:extLst>
          </p:cNvPr>
          <p:cNvPicPr/>
          <p:nvPr/>
        </p:nvPicPr>
        <p:blipFill>
          <a:blip r:embed="rId3" cstate="print"/>
          <a:stretch>
            <a:fillRect/>
          </a:stretch>
        </p:blipFill>
        <p:spPr>
          <a:xfrm>
            <a:off x="8695945" y="424519"/>
            <a:ext cx="905255" cy="531876"/>
          </a:xfrm>
          <a:prstGeom prst="rect">
            <a:avLst/>
          </a:prstGeom>
        </p:spPr>
      </p:pic>
      <p:pic>
        <p:nvPicPr>
          <p:cNvPr id="10" name="object 4">
            <a:extLst>
              <a:ext uri="{FF2B5EF4-FFF2-40B4-BE49-F238E27FC236}">
                <a16:creationId xmlns:a16="http://schemas.microsoft.com/office/drawing/2014/main" id="{255B8FF6-06BA-E327-FEB7-FFBDA2EFEE41}"/>
              </a:ext>
            </a:extLst>
          </p:cNvPr>
          <p:cNvPicPr/>
          <p:nvPr/>
        </p:nvPicPr>
        <p:blipFill>
          <a:blip r:embed="rId4" cstate="print"/>
          <a:stretch>
            <a:fillRect/>
          </a:stretch>
        </p:blipFill>
        <p:spPr>
          <a:xfrm>
            <a:off x="457200" y="422783"/>
            <a:ext cx="770089" cy="754380"/>
          </a:xfrm>
          <a:prstGeom prst="rect">
            <a:avLst/>
          </a:prstGeom>
        </p:spPr>
      </p:pic>
      <p:sp>
        <p:nvSpPr>
          <p:cNvPr id="3" name="Date Placeholder 2">
            <a:extLst>
              <a:ext uri="{FF2B5EF4-FFF2-40B4-BE49-F238E27FC236}">
                <a16:creationId xmlns:a16="http://schemas.microsoft.com/office/drawing/2014/main" id="{3125E7A7-E29B-4BA8-8C76-4B80B7FFDE07}"/>
              </a:ext>
            </a:extLst>
          </p:cNvPr>
          <p:cNvSpPr>
            <a:spLocks noGrp="1"/>
          </p:cNvSpPr>
          <p:nvPr>
            <p:ph type="dt" sz="half" idx="6"/>
          </p:nvPr>
        </p:nvSpPr>
        <p:spPr>
          <a:xfrm>
            <a:off x="632929" y="7141717"/>
            <a:ext cx="594360" cy="152400"/>
          </a:xfrm>
        </p:spPr>
        <p:txBody>
          <a:bodyPr/>
          <a:lstStyle/>
          <a:p>
            <a:pPr marL="12700">
              <a:lnSpc>
                <a:spcPts val="1045"/>
              </a:lnSpc>
            </a:pPr>
            <a:r>
              <a:rPr lang="en-US" spc="-25" dirty="0"/>
              <a:t>28-04-2025</a:t>
            </a:r>
          </a:p>
        </p:txBody>
      </p:sp>
      <p:sp>
        <p:nvSpPr>
          <p:cNvPr id="7" name="Footer Placeholder 6">
            <a:extLst>
              <a:ext uri="{FF2B5EF4-FFF2-40B4-BE49-F238E27FC236}">
                <a16:creationId xmlns:a16="http://schemas.microsoft.com/office/drawing/2014/main" id="{4B67E63B-E397-749C-C012-D71F86143F2A}"/>
              </a:ext>
            </a:extLst>
          </p:cNvPr>
          <p:cNvSpPr>
            <a:spLocks noGrp="1"/>
          </p:cNvSpPr>
          <p:nvPr>
            <p:ph type="ftr" sz="quarter" idx="5"/>
          </p:nvPr>
        </p:nvSpPr>
        <p:spPr>
          <a:xfrm>
            <a:off x="3756722" y="7091107"/>
            <a:ext cx="2544954" cy="406020"/>
          </a:xfrm>
        </p:spPr>
        <p:txBody>
          <a:bodyPr/>
          <a:lstStyle/>
          <a:p>
            <a:pPr marL="12700">
              <a:lnSpc>
                <a:spcPts val="1045"/>
              </a:lnSpc>
            </a:pPr>
            <a:r>
              <a:rPr lang="en-US" spc="-25" dirty="0"/>
              <a:t>SNSCT/CSE/Project/NCAIDIET'25_Conference</a:t>
            </a:r>
            <a:endParaRPr lang="en-US" spc="-5" dirty="0"/>
          </a:p>
        </p:txBody>
      </p:sp>
    </p:spTree>
    <p:extLst>
      <p:ext uri="{BB962C8B-B14F-4D97-AF65-F5344CB8AC3E}">
        <p14:creationId xmlns:p14="http://schemas.microsoft.com/office/powerpoint/2010/main" val="326250986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1B74F-88C1-145B-FB10-D605A244AC5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094DAFC-D0C6-AB71-EE36-7C962BB36D21}"/>
              </a:ext>
            </a:extLst>
          </p:cNvPr>
          <p:cNvSpPr txBox="1">
            <a:spLocks noGrp="1"/>
          </p:cNvSpPr>
          <p:nvPr>
            <p:ph type="title"/>
          </p:nvPr>
        </p:nvSpPr>
        <p:spPr>
          <a:xfrm>
            <a:off x="2866292" y="243076"/>
            <a:ext cx="4366579" cy="420628"/>
          </a:xfrm>
          <a:prstGeom prst="rect">
            <a:avLst/>
          </a:prstGeom>
        </p:spPr>
        <p:txBody>
          <a:bodyPr vert="horz" wrap="square" lIns="0" tIns="12700" rIns="0" bIns="0" rtlCol="0">
            <a:spAutoFit/>
          </a:bodyPr>
          <a:lstStyle/>
          <a:p>
            <a:pPr marL="12700">
              <a:lnSpc>
                <a:spcPct val="100000"/>
              </a:lnSpc>
              <a:spcBef>
                <a:spcPts val="100"/>
              </a:spcBef>
            </a:pPr>
            <a:r>
              <a:rPr lang="en-US" sz="2650" dirty="0"/>
              <a:t>RESULTS &amp; DISCUSSION</a:t>
            </a:r>
            <a:endParaRPr sz="2650" dirty="0"/>
          </a:p>
        </p:txBody>
      </p:sp>
      <p:sp>
        <p:nvSpPr>
          <p:cNvPr id="3" name="object 3">
            <a:extLst>
              <a:ext uri="{FF2B5EF4-FFF2-40B4-BE49-F238E27FC236}">
                <a16:creationId xmlns:a16="http://schemas.microsoft.com/office/drawing/2014/main" id="{9B5609BB-47B1-649D-3BBA-5BC0B237C6BE}"/>
              </a:ext>
            </a:extLst>
          </p:cNvPr>
          <p:cNvSpPr txBox="1"/>
          <p:nvPr/>
        </p:nvSpPr>
        <p:spPr>
          <a:xfrm>
            <a:off x="564991" y="914400"/>
            <a:ext cx="8928418" cy="6380208"/>
          </a:xfrm>
          <a:prstGeom prst="rect">
            <a:avLst/>
          </a:prstGeom>
        </p:spPr>
        <p:txBody>
          <a:bodyPr vert="horz" wrap="square" lIns="0" tIns="12700" rIns="0" bIns="0" rtlCol="0">
            <a:spAutoFit/>
          </a:bodyPr>
          <a:lstStyle/>
          <a:p>
            <a:pPr>
              <a:lnSpc>
                <a:spcPct val="150000"/>
              </a:lnSpc>
            </a:pPr>
            <a:r>
              <a:rPr lang="en-US" b="1" dirty="0">
                <a:latin typeface="Times New Roman" panose="02020603050405020304" pitchFamily="18" charset="0"/>
                <a:cs typeface="Times New Roman" panose="02020603050405020304" pitchFamily="18" charset="0"/>
              </a:rPr>
              <a:t>Results and Discussion</a:t>
            </a:r>
          </a:p>
          <a:p>
            <a:pPr marL="285750" indent="-285750">
              <a:lnSpc>
                <a:spcPct val="150000"/>
              </a:lnSpc>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Accurate Detection: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The CNN model accurately classifies skin lesions from the HAM10000 dataset, proving reliable performance.</a:t>
            </a:r>
          </a:p>
          <a:p>
            <a:pPr marL="285750" indent="-285750">
              <a:lnSpc>
                <a:spcPct val="150000"/>
              </a:lnSpc>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AI Recommendations: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The Generative AI module suggests possible remedies and dermatologist guidance based on predictions.</a:t>
            </a:r>
          </a:p>
          <a:p>
            <a:pPr marL="285750" indent="-285750">
              <a:lnSpc>
                <a:spcPct val="150000"/>
              </a:lnSpc>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Fast Processing:</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Flask enables real-time image analysis, reducing diagnosis time significantly.</a:t>
            </a:r>
          </a:p>
          <a:p>
            <a:pPr marL="285750" indent="-285750">
              <a:lnSpc>
                <a:spcPct val="150000"/>
              </a:lnSpc>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Scalable and Robust: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Handles multiple patient records and diverse lesion types efficiently.</a:t>
            </a:r>
          </a:p>
          <a:p>
            <a:pPr marL="285750" indent="-285750">
              <a:lnSpc>
                <a:spcPct val="150000"/>
              </a:lnSpc>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User-Friendly:</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Simple Flask interface allows easy image upload, result viewing, and report access.</a:t>
            </a:r>
            <a:endParaRPr lang="en-US" sz="1600"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Discussion:</a:t>
            </a:r>
          </a:p>
          <a:p>
            <a:pPr>
              <a:lnSpc>
                <a:spcPct val="150000"/>
              </a:lnSpc>
            </a:pPr>
            <a:r>
              <a:rPr lang="en-US" sz="1600" dirty="0">
                <a:latin typeface="Times New Roman" panose="02020603050405020304" pitchFamily="18" charset="0"/>
                <a:cs typeface="Times New Roman" panose="02020603050405020304" pitchFamily="18" charset="0"/>
              </a:rPr>
              <a:t>The system reduces delays and errors in manual diagnosis.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Combining CNN accuracy with Generative AI insights improves early detection, decision-making, and patient engagement</a:t>
            </a:r>
            <a:r>
              <a:rPr lang="en-US" sz="1600" dirty="0"/>
              <a:t>.</a:t>
            </a:r>
            <a:endParaRPr lang="en-US" sz="1500" b="1" dirty="0">
              <a:latin typeface="Times New Roman" panose="02020603050405020304" pitchFamily="18" charset="0"/>
              <a:cs typeface="Times New Roman" panose="02020603050405020304" pitchFamily="18" charset="0"/>
            </a:endParaRPr>
          </a:p>
          <a:p>
            <a:pPr algn="just">
              <a:lnSpc>
                <a:spcPct val="150000"/>
              </a:lnSpc>
            </a:pPr>
            <a:endParaRPr lang="en-US" sz="1800" dirty="0">
              <a:latin typeface="Times New Roman" panose="02020603050405020304" pitchFamily="18" charset="0"/>
              <a:cs typeface="Times New Roman" panose="02020603050405020304" pitchFamily="18" charset="0"/>
            </a:endParaRPr>
          </a:p>
        </p:txBody>
      </p:sp>
      <p:pic>
        <p:nvPicPr>
          <p:cNvPr id="4" name="object 4">
            <a:extLst>
              <a:ext uri="{FF2B5EF4-FFF2-40B4-BE49-F238E27FC236}">
                <a16:creationId xmlns:a16="http://schemas.microsoft.com/office/drawing/2014/main" id="{7C7CEF03-084D-7F33-64D2-F2433B8994B8}"/>
              </a:ext>
            </a:extLst>
          </p:cNvPr>
          <p:cNvPicPr/>
          <p:nvPr/>
        </p:nvPicPr>
        <p:blipFill>
          <a:blip r:embed="rId2" cstate="print"/>
          <a:stretch>
            <a:fillRect/>
          </a:stretch>
        </p:blipFill>
        <p:spPr>
          <a:xfrm>
            <a:off x="232168" y="76200"/>
            <a:ext cx="770089" cy="754380"/>
          </a:xfrm>
          <a:prstGeom prst="rect">
            <a:avLst/>
          </a:prstGeom>
        </p:spPr>
      </p:pic>
      <p:pic>
        <p:nvPicPr>
          <p:cNvPr id="5" name="object 5">
            <a:extLst>
              <a:ext uri="{FF2B5EF4-FFF2-40B4-BE49-F238E27FC236}">
                <a16:creationId xmlns:a16="http://schemas.microsoft.com/office/drawing/2014/main" id="{D77F447C-C897-97BD-F277-4F6085FF2934}"/>
              </a:ext>
            </a:extLst>
          </p:cNvPr>
          <p:cNvPicPr/>
          <p:nvPr/>
        </p:nvPicPr>
        <p:blipFill>
          <a:blip r:embed="rId3" cstate="print"/>
          <a:stretch>
            <a:fillRect/>
          </a:stretch>
        </p:blipFill>
        <p:spPr>
          <a:xfrm>
            <a:off x="8990076" y="268097"/>
            <a:ext cx="905255" cy="531876"/>
          </a:xfrm>
          <a:prstGeom prst="rect">
            <a:avLst/>
          </a:prstGeom>
        </p:spPr>
      </p:pic>
      <p:sp>
        <p:nvSpPr>
          <p:cNvPr id="8" name="object 8">
            <a:extLst>
              <a:ext uri="{FF2B5EF4-FFF2-40B4-BE49-F238E27FC236}">
                <a16:creationId xmlns:a16="http://schemas.microsoft.com/office/drawing/2014/main" id="{345B6D53-0E6D-5E5D-CC4D-31605F1F3526}"/>
              </a:ext>
            </a:extLst>
          </p:cNvPr>
          <p:cNvSpPr txBox="1">
            <a:spLocks noGrp="1"/>
          </p:cNvSpPr>
          <p:nvPr>
            <p:ph type="sldNum" sz="quarter" idx="7"/>
          </p:nvPr>
        </p:nvSpPr>
        <p:spPr>
          <a:xfrm>
            <a:off x="9189465" y="7086600"/>
            <a:ext cx="705865" cy="130036"/>
          </a:xfrm>
          <a:prstGeom prst="rect">
            <a:avLst/>
          </a:prstGeom>
        </p:spPr>
        <p:txBody>
          <a:bodyPr vert="horz" wrap="square" lIns="0" tIns="0" rIns="0" bIns="0" rtlCol="0">
            <a:spAutoFit/>
          </a:bodyPr>
          <a:lstStyle/>
          <a:p>
            <a:pPr marL="38100">
              <a:lnSpc>
                <a:spcPts val="1045"/>
              </a:lnSpc>
            </a:pPr>
            <a:fld id="{81D60167-4931-47E6-BA6A-407CBD079E47}" type="slidenum">
              <a:rPr spc="-5" dirty="0"/>
              <a:t>12</a:t>
            </a:fld>
            <a:endParaRPr spc="-5" dirty="0"/>
          </a:p>
        </p:txBody>
      </p:sp>
      <p:sp>
        <p:nvSpPr>
          <p:cNvPr id="9" name="Date Placeholder 8">
            <a:extLst>
              <a:ext uri="{FF2B5EF4-FFF2-40B4-BE49-F238E27FC236}">
                <a16:creationId xmlns:a16="http://schemas.microsoft.com/office/drawing/2014/main" id="{394542C3-E93D-0B9E-9238-99C2132D7057}"/>
              </a:ext>
            </a:extLst>
          </p:cNvPr>
          <p:cNvSpPr>
            <a:spLocks noGrp="1"/>
          </p:cNvSpPr>
          <p:nvPr>
            <p:ph type="dt" sz="half" idx="6"/>
          </p:nvPr>
        </p:nvSpPr>
        <p:spPr>
          <a:xfrm>
            <a:off x="705077" y="7010400"/>
            <a:ext cx="594360" cy="152400"/>
          </a:xfrm>
        </p:spPr>
        <p:txBody>
          <a:bodyPr/>
          <a:lstStyle/>
          <a:p>
            <a:pPr marL="12700">
              <a:lnSpc>
                <a:spcPts val="1045"/>
              </a:lnSpc>
            </a:pPr>
            <a:r>
              <a:rPr lang="en-US" spc="-25" dirty="0"/>
              <a:t>28-04-2025</a:t>
            </a:r>
          </a:p>
        </p:txBody>
      </p:sp>
      <p:sp>
        <p:nvSpPr>
          <p:cNvPr id="10" name="Footer Placeholder 9">
            <a:extLst>
              <a:ext uri="{FF2B5EF4-FFF2-40B4-BE49-F238E27FC236}">
                <a16:creationId xmlns:a16="http://schemas.microsoft.com/office/drawing/2014/main" id="{F1274070-A3C2-4B01-FDDC-418A635142AA}"/>
              </a:ext>
            </a:extLst>
          </p:cNvPr>
          <p:cNvSpPr>
            <a:spLocks noGrp="1"/>
          </p:cNvSpPr>
          <p:nvPr>
            <p:ph type="ftr" sz="quarter" idx="5"/>
          </p:nvPr>
        </p:nvSpPr>
        <p:spPr>
          <a:xfrm>
            <a:off x="4010074" y="7010400"/>
            <a:ext cx="2468754" cy="482220"/>
          </a:xfrm>
        </p:spPr>
        <p:txBody>
          <a:bodyPr/>
          <a:lstStyle/>
          <a:p>
            <a:pPr marL="12700">
              <a:lnSpc>
                <a:spcPts val="1045"/>
              </a:lnSpc>
            </a:pPr>
            <a:r>
              <a:rPr lang="en-US" spc="-25" dirty="0"/>
              <a:t>SNSCT/CSE/Project/NCAIDIET'25_Conference</a:t>
            </a:r>
            <a:endParaRPr lang="en-US" spc="-5" dirty="0"/>
          </a:p>
        </p:txBody>
      </p:sp>
    </p:spTree>
    <p:extLst>
      <p:ext uri="{BB962C8B-B14F-4D97-AF65-F5344CB8AC3E}">
        <p14:creationId xmlns:p14="http://schemas.microsoft.com/office/powerpoint/2010/main" val="124733554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085F2-2D2A-8E00-E152-CBB1E2B3C00E}"/>
              </a:ext>
            </a:extLst>
          </p:cNvPr>
          <p:cNvSpPr>
            <a:spLocks noGrp="1"/>
          </p:cNvSpPr>
          <p:nvPr>
            <p:ph type="title"/>
          </p:nvPr>
        </p:nvSpPr>
        <p:spPr>
          <a:xfrm>
            <a:off x="3719576" y="1505788"/>
            <a:ext cx="2583815" cy="300082"/>
          </a:xfrm>
        </p:spPr>
        <p:txBody>
          <a:bodyPr/>
          <a:lstStyle/>
          <a:p>
            <a:r>
              <a:rPr lang="en-IN" dirty="0"/>
              <a:t>v</a:t>
            </a:r>
          </a:p>
        </p:txBody>
      </p:sp>
      <p:sp>
        <p:nvSpPr>
          <p:cNvPr id="4" name="Footer Placeholder 3">
            <a:extLst>
              <a:ext uri="{FF2B5EF4-FFF2-40B4-BE49-F238E27FC236}">
                <a16:creationId xmlns:a16="http://schemas.microsoft.com/office/drawing/2014/main" id="{5F5D84FB-75F5-8389-8813-08B7A57E1CB5}"/>
              </a:ext>
            </a:extLst>
          </p:cNvPr>
          <p:cNvSpPr>
            <a:spLocks noGrp="1"/>
          </p:cNvSpPr>
          <p:nvPr>
            <p:ph type="ftr" sz="quarter" idx="5"/>
          </p:nvPr>
        </p:nvSpPr>
        <p:spPr>
          <a:xfrm>
            <a:off x="4144835" y="7059965"/>
            <a:ext cx="2392554" cy="152400"/>
          </a:xfrm>
        </p:spPr>
        <p:txBody>
          <a:bodyPr/>
          <a:lstStyle/>
          <a:p>
            <a:pPr marL="12700">
              <a:lnSpc>
                <a:spcPts val="1045"/>
              </a:lnSpc>
            </a:pPr>
            <a:r>
              <a:rPr lang="en-US" spc="-25"/>
              <a:t>SNSCT/CSE/Project/NCAIDIET'25_Conference</a:t>
            </a:r>
            <a:endParaRPr lang="en-US" spc="-5" dirty="0"/>
          </a:p>
        </p:txBody>
      </p:sp>
      <p:sp>
        <p:nvSpPr>
          <p:cNvPr id="5" name="Date Placeholder 4">
            <a:extLst>
              <a:ext uri="{FF2B5EF4-FFF2-40B4-BE49-F238E27FC236}">
                <a16:creationId xmlns:a16="http://schemas.microsoft.com/office/drawing/2014/main" id="{6C71922D-2014-E896-EF4A-FA4C91D98219}"/>
              </a:ext>
            </a:extLst>
          </p:cNvPr>
          <p:cNvSpPr>
            <a:spLocks noGrp="1"/>
          </p:cNvSpPr>
          <p:nvPr>
            <p:ph type="dt" sz="half" idx="6"/>
          </p:nvPr>
        </p:nvSpPr>
        <p:spPr>
          <a:xfrm>
            <a:off x="705077" y="7072643"/>
            <a:ext cx="594360" cy="152400"/>
          </a:xfrm>
        </p:spPr>
        <p:txBody>
          <a:bodyPr/>
          <a:lstStyle/>
          <a:p>
            <a:pPr marL="12700">
              <a:lnSpc>
                <a:spcPts val="1045"/>
              </a:lnSpc>
            </a:pPr>
            <a:r>
              <a:rPr lang="en-US" spc="-25" dirty="0"/>
              <a:t>28-04-2025</a:t>
            </a:r>
          </a:p>
        </p:txBody>
      </p:sp>
      <p:sp>
        <p:nvSpPr>
          <p:cNvPr id="6" name="Slide Number Placeholder 5">
            <a:extLst>
              <a:ext uri="{FF2B5EF4-FFF2-40B4-BE49-F238E27FC236}">
                <a16:creationId xmlns:a16="http://schemas.microsoft.com/office/drawing/2014/main" id="{7608B515-1EFB-99F7-9C33-6745601A8090}"/>
              </a:ext>
            </a:extLst>
          </p:cNvPr>
          <p:cNvSpPr>
            <a:spLocks noGrp="1"/>
          </p:cNvSpPr>
          <p:nvPr>
            <p:ph type="sldNum" sz="quarter" idx="7"/>
          </p:nvPr>
        </p:nvSpPr>
        <p:spPr>
          <a:xfrm>
            <a:off x="8990076" y="7035990"/>
            <a:ext cx="487934" cy="253620"/>
          </a:xfrm>
        </p:spPr>
        <p:txBody>
          <a:bodyPr/>
          <a:lstStyle/>
          <a:p>
            <a:pPr marL="38100">
              <a:lnSpc>
                <a:spcPts val="1045"/>
              </a:lnSpc>
            </a:pPr>
            <a:fld id="{81D60167-4931-47E6-BA6A-407CBD079E47}" type="slidenum">
              <a:rPr lang="en-IN" spc="-5" smtClean="0"/>
              <a:t>13</a:t>
            </a:fld>
            <a:endParaRPr lang="en-IN" spc="-5" dirty="0"/>
          </a:p>
        </p:txBody>
      </p:sp>
      <p:pic>
        <p:nvPicPr>
          <p:cNvPr id="11" name="Picture 10">
            <a:extLst>
              <a:ext uri="{FF2B5EF4-FFF2-40B4-BE49-F238E27FC236}">
                <a16:creationId xmlns:a16="http://schemas.microsoft.com/office/drawing/2014/main" id="{9CA4EE90-E878-390F-3788-DCF0758E5CF3}"/>
              </a:ext>
            </a:extLst>
          </p:cNvPr>
          <p:cNvPicPr>
            <a:picLocks noChangeAspect="1"/>
          </p:cNvPicPr>
          <p:nvPr/>
        </p:nvPicPr>
        <p:blipFill>
          <a:blip r:embed="rId2"/>
          <a:stretch>
            <a:fillRect/>
          </a:stretch>
        </p:blipFill>
        <p:spPr>
          <a:xfrm>
            <a:off x="948610" y="1502894"/>
            <a:ext cx="8161179" cy="4136698"/>
          </a:xfrm>
          <a:prstGeom prst="rect">
            <a:avLst/>
          </a:prstGeom>
        </p:spPr>
      </p:pic>
      <p:pic>
        <p:nvPicPr>
          <p:cNvPr id="7" name="object 4">
            <a:extLst>
              <a:ext uri="{FF2B5EF4-FFF2-40B4-BE49-F238E27FC236}">
                <a16:creationId xmlns:a16="http://schemas.microsoft.com/office/drawing/2014/main" id="{357615D9-CE4F-B5E2-4B8D-EA3C767F7B5B}"/>
              </a:ext>
            </a:extLst>
          </p:cNvPr>
          <p:cNvPicPr/>
          <p:nvPr/>
        </p:nvPicPr>
        <p:blipFill>
          <a:blip r:embed="rId3" cstate="print"/>
          <a:stretch>
            <a:fillRect/>
          </a:stretch>
        </p:blipFill>
        <p:spPr>
          <a:xfrm>
            <a:off x="232168" y="76200"/>
            <a:ext cx="770089" cy="754380"/>
          </a:xfrm>
          <a:prstGeom prst="rect">
            <a:avLst/>
          </a:prstGeom>
        </p:spPr>
      </p:pic>
      <p:pic>
        <p:nvPicPr>
          <p:cNvPr id="8" name="object 5">
            <a:extLst>
              <a:ext uri="{FF2B5EF4-FFF2-40B4-BE49-F238E27FC236}">
                <a16:creationId xmlns:a16="http://schemas.microsoft.com/office/drawing/2014/main" id="{52D2177C-048E-F2B1-3BE9-B1C040DF12CB}"/>
              </a:ext>
            </a:extLst>
          </p:cNvPr>
          <p:cNvPicPr/>
          <p:nvPr/>
        </p:nvPicPr>
        <p:blipFill>
          <a:blip r:embed="rId4" cstate="print"/>
          <a:stretch>
            <a:fillRect/>
          </a:stretch>
        </p:blipFill>
        <p:spPr>
          <a:xfrm>
            <a:off x="8990076" y="268097"/>
            <a:ext cx="905255" cy="531876"/>
          </a:xfrm>
          <a:prstGeom prst="rect">
            <a:avLst/>
          </a:prstGeom>
        </p:spPr>
      </p:pic>
      <p:sp>
        <p:nvSpPr>
          <p:cNvPr id="9" name="TextBox 8">
            <a:extLst>
              <a:ext uri="{FF2B5EF4-FFF2-40B4-BE49-F238E27FC236}">
                <a16:creationId xmlns:a16="http://schemas.microsoft.com/office/drawing/2014/main" id="{9955D753-F9A7-8FE7-4AF5-4982CC8DA0F8}"/>
              </a:ext>
            </a:extLst>
          </p:cNvPr>
          <p:cNvSpPr txBox="1"/>
          <p:nvPr/>
        </p:nvSpPr>
        <p:spPr>
          <a:xfrm>
            <a:off x="3352800" y="5949668"/>
            <a:ext cx="3976624" cy="400110"/>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User-Friendly Dashboard</a:t>
            </a:r>
          </a:p>
        </p:txBody>
      </p:sp>
      <p:sp>
        <p:nvSpPr>
          <p:cNvPr id="14" name="TextBox 13">
            <a:extLst>
              <a:ext uri="{FF2B5EF4-FFF2-40B4-BE49-F238E27FC236}">
                <a16:creationId xmlns:a16="http://schemas.microsoft.com/office/drawing/2014/main" id="{1042F1E9-E386-E2B8-E7E2-BD9D5914CB3B}"/>
              </a:ext>
            </a:extLst>
          </p:cNvPr>
          <p:cNvSpPr txBox="1"/>
          <p:nvPr/>
        </p:nvSpPr>
        <p:spPr>
          <a:xfrm>
            <a:off x="3290633" y="300264"/>
            <a:ext cx="4100957" cy="492443"/>
          </a:xfrm>
          <a:prstGeom prst="rect">
            <a:avLst/>
          </a:prstGeom>
          <a:noFill/>
        </p:spPr>
        <p:txBody>
          <a:bodyPr wrap="square">
            <a:spAutoFit/>
          </a:bodyPr>
          <a:lstStyle/>
          <a:p>
            <a:pPr algn="ctr"/>
            <a:r>
              <a:rPr lang="en-US" sz="2600" b="1" dirty="0">
                <a:latin typeface="Times New Roman" panose="02020603050405020304" pitchFamily="18" charset="0"/>
                <a:cs typeface="Times New Roman" panose="02020603050405020304" pitchFamily="18" charset="0"/>
              </a:rPr>
              <a:t>PROJECT OUTCOME</a:t>
            </a:r>
            <a:endParaRPr lang="en-IN" sz="2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687210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854AB-B182-B18F-BE06-EDAA667A1E4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6E58B0C-C9C3-7378-92F8-4A10E92452D3}"/>
              </a:ext>
            </a:extLst>
          </p:cNvPr>
          <p:cNvSpPr txBox="1">
            <a:spLocks noGrp="1"/>
          </p:cNvSpPr>
          <p:nvPr>
            <p:ph type="title"/>
          </p:nvPr>
        </p:nvSpPr>
        <p:spPr>
          <a:xfrm>
            <a:off x="3276600" y="229860"/>
            <a:ext cx="4037585" cy="420628"/>
          </a:xfrm>
          <a:prstGeom prst="rect">
            <a:avLst/>
          </a:prstGeom>
        </p:spPr>
        <p:txBody>
          <a:bodyPr vert="horz" wrap="square" lIns="0" tIns="12700" rIns="0" bIns="0" rtlCol="0">
            <a:spAutoFit/>
          </a:bodyPr>
          <a:lstStyle/>
          <a:p>
            <a:pPr marL="12700">
              <a:lnSpc>
                <a:spcPct val="100000"/>
              </a:lnSpc>
              <a:spcBef>
                <a:spcPts val="100"/>
              </a:spcBef>
            </a:pPr>
            <a:r>
              <a:rPr lang="en-US" sz="2650" dirty="0"/>
              <a:t>PROJECT OUTCOME</a:t>
            </a:r>
            <a:endParaRPr sz="2650" dirty="0"/>
          </a:p>
        </p:txBody>
      </p:sp>
      <p:pic>
        <p:nvPicPr>
          <p:cNvPr id="4" name="object 4">
            <a:extLst>
              <a:ext uri="{FF2B5EF4-FFF2-40B4-BE49-F238E27FC236}">
                <a16:creationId xmlns:a16="http://schemas.microsoft.com/office/drawing/2014/main" id="{0AA5B0A6-2111-EFC2-38C0-BCF1464076DD}"/>
              </a:ext>
            </a:extLst>
          </p:cNvPr>
          <p:cNvPicPr/>
          <p:nvPr/>
        </p:nvPicPr>
        <p:blipFill>
          <a:blip r:embed="rId2" cstate="print"/>
          <a:stretch>
            <a:fillRect/>
          </a:stretch>
        </p:blipFill>
        <p:spPr>
          <a:xfrm>
            <a:off x="232168" y="76200"/>
            <a:ext cx="770089" cy="754380"/>
          </a:xfrm>
          <a:prstGeom prst="rect">
            <a:avLst/>
          </a:prstGeom>
        </p:spPr>
      </p:pic>
      <p:pic>
        <p:nvPicPr>
          <p:cNvPr id="5" name="object 5">
            <a:extLst>
              <a:ext uri="{FF2B5EF4-FFF2-40B4-BE49-F238E27FC236}">
                <a16:creationId xmlns:a16="http://schemas.microsoft.com/office/drawing/2014/main" id="{34BEE0E4-88B7-5374-A5FE-107405D92DDC}"/>
              </a:ext>
            </a:extLst>
          </p:cNvPr>
          <p:cNvPicPr/>
          <p:nvPr/>
        </p:nvPicPr>
        <p:blipFill>
          <a:blip r:embed="rId3" cstate="print"/>
          <a:stretch>
            <a:fillRect/>
          </a:stretch>
        </p:blipFill>
        <p:spPr>
          <a:xfrm>
            <a:off x="8990076" y="268097"/>
            <a:ext cx="905255" cy="531876"/>
          </a:xfrm>
          <a:prstGeom prst="rect">
            <a:avLst/>
          </a:prstGeom>
        </p:spPr>
      </p:pic>
      <p:sp>
        <p:nvSpPr>
          <p:cNvPr id="8" name="object 8">
            <a:extLst>
              <a:ext uri="{FF2B5EF4-FFF2-40B4-BE49-F238E27FC236}">
                <a16:creationId xmlns:a16="http://schemas.microsoft.com/office/drawing/2014/main" id="{E82AEF8C-400D-68C1-DB64-99AE64357ED1}"/>
              </a:ext>
            </a:extLst>
          </p:cNvPr>
          <p:cNvSpPr txBox="1">
            <a:spLocks noGrp="1"/>
          </p:cNvSpPr>
          <p:nvPr>
            <p:ph type="sldNum" sz="quarter" idx="7"/>
          </p:nvPr>
        </p:nvSpPr>
        <p:spPr>
          <a:xfrm>
            <a:off x="9189466" y="7315199"/>
            <a:ext cx="564134" cy="130036"/>
          </a:xfrm>
          <a:prstGeom prst="rect">
            <a:avLst/>
          </a:prstGeom>
        </p:spPr>
        <p:txBody>
          <a:bodyPr vert="horz" wrap="square" lIns="0" tIns="0" rIns="0" bIns="0" rtlCol="0">
            <a:spAutoFit/>
          </a:bodyPr>
          <a:lstStyle/>
          <a:p>
            <a:pPr marL="38100">
              <a:lnSpc>
                <a:spcPts val="1045"/>
              </a:lnSpc>
            </a:pPr>
            <a:fld id="{81D60167-4931-47E6-BA6A-407CBD079E47}" type="slidenum">
              <a:rPr spc="-5" dirty="0"/>
              <a:t>14</a:t>
            </a:fld>
            <a:endParaRPr spc="-5" dirty="0"/>
          </a:p>
        </p:txBody>
      </p:sp>
      <p:sp>
        <p:nvSpPr>
          <p:cNvPr id="3" name="object 2">
            <a:extLst>
              <a:ext uri="{FF2B5EF4-FFF2-40B4-BE49-F238E27FC236}">
                <a16:creationId xmlns:a16="http://schemas.microsoft.com/office/drawing/2014/main" id="{728E42E2-A53B-0370-2849-0A4CCB2C5BD5}"/>
              </a:ext>
            </a:extLst>
          </p:cNvPr>
          <p:cNvSpPr txBox="1">
            <a:spLocks/>
          </p:cNvSpPr>
          <p:nvPr/>
        </p:nvSpPr>
        <p:spPr>
          <a:xfrm>
            <a:off x="3391986" y="5859381"/>
            <a:ext cx="3951136" cy="320601"/>
          </a:xfrm>
          <a:prstGeom prst="rect">
            <a:avLst/>
          </a:prstGeom>
        </p:spPr>
        <p:txBody>
          <a:bodyPr vert="horz" wrap="square" lIns="0" tIns="12700" rIns="0" bIns="0" rtlCol="0">
            <a:spAutoFit/>
          </a:bodyPr>
          <a:lstStyle>
            <a:lvl1pPr>
              <a:defRPr sz="1950" b="1" i="0">
                <a:solidFill>
                  <a:schemeClr val="tx1"/>
                </a:solidFill>
                <a:latin typeface="Times New Roman"/>
                <a:ea typeface="+mj-ea"/>
                <a:cs typeface="Times New Roman"/>
              </a:defRPr>
            </a:lvl1pPr>
          </a:lstStyle>
          <a:p>
            <a:pPr marL="12700">
              <a:spcBef>
                <a:spcPts val="100"/>
              </a:spcBef>
            </a:pPr>
            <a:r>
              <a:rPr lang="en-US" sz="2000" kern="0" dirty="0">
                <a:latin typeface="Times New Roman" panose="02020603050405020304" pitchFamily="18" charset="0"/>
                <a:cs typeface="Times New Roman" panose="02020603050405020304" pitchFamily="18" charset="0"/>
              </a:rPr>
              <a:t>           Prediction result</a:t>
            </a:r>
          </a:p>
        </p:txBody>
      </p:sp>
      <p:pic>
        <p:nvPicPr>
          <p:cNvPr id="10" name="Picture 9">
            <a:extLst>
              <a:ext uri="{FF2B5EF4-FFF2-40B4-BE49-F238E27FC236}">
                <a16:creationId xmlns:a16="http://schemas.microsoft.com/office/drawing/2014/main" id="{F810290C-F4DA-9E55-CA92-CBB8630545F0}"/>
              </a:ext>
            </a:extLst>
          </p:cNvPr>
          <p:cNvPicPr>
            <a:picLocks noChangeAspect="1"/>
          </p:cNvPicPr>
          <p:nvPr/>
        </p:nvPicPr>
        <p:blipFill>
          <a:blip r:embed="rId4"/>
          <a:stretch>
            <a:fillRect/>
          </a:stretch>
        </p:blipFill>
        <p:spPr>
          <a:xfrm>
            <a:off x="592134" y="1104454"/>
            <a:ext cx="9052087" cy="4343400"/>
          </a:xfrm>
          <a:prstGeom prst="rect">
            <a:avLst/>
          </a:prstGeom>
        </p:spPr>
      </p:pic>
      <p:sp>
        <p:nvSpPr>
          <p:cNvPr id="9" name="Date Placeholder 8">
            <a:extLst>
              <a:ext uri="{FF2B5EF4-FFF2-40B4-BE49-F238E27FC236}">
                <a16:creationId xmlns:a16="http://schemas.microsoft.com/office/drawing/2014/main" id="{27F4D390-D9DD-06CF-B7C6-03F86EEB2242}"/>
              </a:ext>
            </a:extLst>
          </p:cNvPr>
          <p:cNvSpPr>
            <a:spLocks noGrp="1"/>
          </p:cNvSpPr>
          <p:nvPr>
            <p:ph type="dt" sz="half" idx="6"/>
          </p:nvPr>
        </p:nvSpPr>
        <p:spPr>
          <a:xfrm>
            <a:off x="838200" y="7334877"/>
            <a:ext cx="594360" cy="152400"/>
          </a:xfrm>
        </p:spPr>
        <p:txBody>
          <a:bodyPr/>
          <a:lstStyle/>
          <a:p>
            <a:pPr marL="12700">
              <a:lnSpc>
                <a:spcPts val="1045"/>
              </a:lnSpc>
            </a:pPr>
            <a:r>
              <a:rPr lang="en-US" spc="-25" dirty="0"/>
              <a:t>28-04-2025</a:t>
            </a:r>
          </a:p>
        </p:txBody>
      </p:sp>
      <p:sp>
        <p:nvSpPr>
          <p:cNvPr id="12" name="Footer Placeholder 11">
            <a:extLst>
              <a:ext uri="{FF2B5EF4-FFF2-40B4-BE49-F238E27FC236}">
                <a16:creationId xmlns:a16="http://schemas.microsoft.com/office/drawing/2014/main" id="{F7E2E0FE-4AB9-1EE5-8E53-32CEE20FA045}"/>
              </a:ext>
            </a:extLst>
          </p:cNvPr>
          <p:cNvSpPr>
            <a:spLocks noGrp="1"/>
          </p:cNvSpPr>
          <p:nvPr>
            <p:ph type="ftr" sz="quarter" idx="5"/>
          </p:nvPr>
        </p:nvSpPr>
        <p:spPr>
          <a:xfrm>
            <a:off x="3909123" y="7309287"/>
            <a:ext cx="2240154" cy="203580"/>
          </a:xfrm>
        </p:spPr>
        <p:txBody>
          <a:bodyPr/>
          <a:lstStyle/>
          <a:p>
            <a:pPr marL="12700">
              <a:lnSpc>
                <a:spcPts val="1045"/>
              </a:lnSpc>
            </a:pPr>
            <a:r>
              <a:rPr lang="en-US" spc="-25" dirty="0"/>
              <a:t>SNSCT/CSE/Project/NCAIDIET'25_Conference</a:t>
            </a:r>
            <a:endParaRPr lang="en-US" spc="-5" dirty="0"/>
          </a:p>
        </p:txBody>
      </p:sp>
    </p:spTree>
    <p:extLst>
      <p:ext uri="{BB962C8B-B14F-4D97-AF65-F5344CB8AC3E}">
        <p14:creationId xmlns:p14="http://schemas.microsoft.com/office/powerpoint/2010/main" val="389871568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0CB62-2104-5B7F-D94A-7197D60A803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E71B388-F2B7-4D7C-82E7-7C65A8ECD3AF}"/>
              </a:ext>
            </a:extLst>
          </p:cNvPr>
          <p:cNvSpPr txBox="1">
            <a:spLocks noGrp="1"/>
          </p:cNvSpPr>
          <p:nvPr>
            <p:ph type="ctrTitle"/>
          </p:nvPr>
        </p:nvSpPr>
        <p:spPr>
          <a:xfrm>
            <a:off x="3097436" y="620266"/>
            <a:ext cx="3733800" cy="420628"/>
          </a:xfrm>
          <a:prstGeom prst="rect">
            <a:avLst/>
          </a:prstGeom>
        </p:spPr>
        <p:txBody>
          <a:bodyPr vert="horz" wrap="square" lIns="0" tIns="12700" rIns="0" bIns="0" rtlCol="0">
            <a:spAutoFit/>
          </a:bodyPr>
          <a:lstStyle/>
          <a:p>
            <a:pPr marL="12700" algn="ctr">
              <a:lnSpc>
                <a:spcPct val="100000"/>
              </a:lnSpc>
              <a:spcBef>
                <a:spcPts val="100"/>
              </a:spcBef>
            </a:pPr>
            <a:r>
              <a:rPr lang="en-US" sz="2650" dirty="0"/>
              <a:t>CONCLUSION </a:t>
            </a:r>
            <a:endParaRPr sz="2650" dirty="0"/>
          </a:p>
        </p:txBody>
      </p:sp>
      <p:pic>
        <p:nvPicPr>
          <p:cNvPr id="4" name="object 4">
            <a:extLst>
              <a:ext uri="{FF2B5EF4-FFF2-40B4-BE49-F238E27FC236}">
                <a16:creationId xmlns:a16="http://schemas.microsoft.com/office/drawing/2014/main" id="{7E73ADC9-4FF0-EE0C-6F22-2D0A798DC9EF}"/>
              </a:ext>
            </a:extLst>
          </p:cNvPr>
          <p:cNvPicPr/>
          <p:nvPr/>
        </p:nvPicPr>
        <p:blipFill>
          <a:blip r:embed="rId2" cstate="print"/>
          <a:stretch>
            <a:fillRect/>
          </a:stretch>
        </p:blipFill>
        <p:spPr>
          <a:xfrm>
            <a:off x="396775" y="422783"/>
            <a:ext cx="770089" cy="754380"/>
          </a:xfrm>
          <a:prstGeom prst="rect">
            <a:avLst/>
          </a:prstGeom>
        </p:spPr>
      </p:pic>
      <p:pic>
        <p:nvPicPr>
          <p:cNvPr id="5" name="object 5">
            <a:extLst>
              <a:ext uri="{FF2B5EF4-FFF2-40B4-BE49-F238E27FC236}">
                <a16:creationId xmlns:a16="http://schemas.microsoft.com/office/drawing/2014/main" id="{95D123BC-95C1-702A-AE93-F5FB81F32CD2}"/>
              </a:ext>
            </a:extLst>
          </p:cNvPr>
          <p:cNvPicPr/>
          <p:nvPr/>
        </p:nvPicPr>
        <p:blipFill>
          <a:blip r:embed="rId3" cstate="print"/>
          <a:stretch>
            <a:fillRect/>
          </a:stretch>
        </p:blipFill>
        <p:spPr>
          <a:xfrm>
            <a:off x="8610600" y="509018"/>
            <a:ext cx="905255" cy="531876"/>
          </a:xfrm>
          <a:prstGeom prst="rect">
            <a:avLst/>
          </a:prstGeom>
        </p:spPr>
      </p:pic>
      <p:sp>
        <p:nvSpPr>
          <p:cNvPr id="16" name="Rectangle 6">
            <a:extLst>
              <a:ext uri="{FF2B5EF4-FFF2-40B4-BE49-F238E27FC236}">
                <a16:creationId xmlns:a16="http://schemas.microsoft.com/office/drawing/2014/main" id="{533F1794-F87C-B342-F6E9-8B3A82024C43}"/>
              </a:ext>
            </a:extLst>
          </p:cNvPr>
          <p:cNvSpPr>
            <a:spLocks noGrp="1" noChangeArrowheads="1"/>
          </p:cNvSpPr>
          <p:nvPr>
            <p:ph type="subTitle" idx="4"/>
          </p:nvPr>
        </p:nvSpPr>
        <p:spPr bwMode="auto">
          <a:xfrm>
            <a:off x="677862" y="1609717"/>
            <a:ext cx="8702675" cy="4197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effectively detects and classifies skin lesions using a CNN model trained on the HAM10000 dataset.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integration of Generative AI enhances diagnosis by providing remedies and dermatologist recommendations.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Flask-based interface ensures easy image upload, real-time analysis, and accessible results for users.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demonstrates high accuracy, efficiency, and scalability for diverse skin lesion types.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system offers a cost-effective and patient-centered tool for early skin cancer detection and medical guidance</a:t>
            </a:r>
            <a:r>
              <a:rPr kumimoji="0" lang="en-US" altLang="en-US" sz="1800" i="0" u="none" strike="noStrike" cap="none" normalizeH="0" baseline="0" dirty="0">
                <a:ln>
                  <a:noFill/>
                </a:ln>
                <a:solidFill>
                  <a:schemeClr val="tx1"/>
                </a:solidFill>
                <a:effectLst/>
                <a:latin typeface="Arial" panose="020B0604020202020204" pitchFamily="34" charset="0"/>
              </a:rPr>
              <a:t>.</a:t>
            </a:r>
          </a:p>
        </p:txBody>
      </p:sp>
      <p:sp>
        <p:nvSpPr>
          <p:cNvPr id="17" name="Slide Number Placeholder 16">
            <a:extLst>
              <a:ext uri="{FF2B5EF4-FFF2-40B4-BE49-F238E27FC236}">
                <a16:creationId xmlns:a16="http://schemas.microsoft.com/office/drawing/2014/main" id="{9637DB75-AD1C-3CB3-C555-20438205ECE0}"/>
              </a:ext>
            </a:extLst>
          </p:cNvPr>
          <p:cNvSpPr>
            <a:spLocks noGrp="1"/>
          </p:cNvSpPr>
          <p:nvPr>
            <p:ph type="sldNum" sz="quarter" idx="7"/>
          </p:nvPr>
        </p:nvSpPr>
        <p:spPr>
          <a:xfrm>
            <a:off x="9240202" y="7105902"/>
            <a:ext cx="360997" cy="157480"/>
          </a:xfrm>
        </p:spPr>
        <p:txBody>
          <a:bodyPr/>
          <a:lstStyle/>
          <a:p>
            <a:pPr marL="38100">
              <a:lnSpc>
                <a:spcPts val="1045"/>
              </a:lnSpc>
            </a:pPr>
            <a:fld id="{81D60167-4931-47E6-BA6A-407CBD079E47}" type="slidenum">
              <a:rPr lang="en-IN" spc="-5" smtClean="0"/>
              <a:t>15</a:t>
            </a:fld>
            <a:endParaRPr lang="en-IN" spc="-5" dirty="0"/>
          </a:p>
        </p:txBody>
      </p:sp>
    </p:spTree>
    <p:extLst>
      <p:ext uri="{BB962C8B-B14F-4D97-AF65-F5344CB8AC3E}">
        <p14:creationId xmlns:p14="http://schemas.microsoft.com/office/powerpoint/2010/main" val="284173887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F9E7A-40D9-7D85-8B7E-DE91C01E9C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12412DA-E9D2-0C3C-52CE-1D060680D885}"/>
              </a:ext>
            </a:extLst>
          </p:cNvPr>
          <p:cNvSpPr txBox="1">
            <a:spLocks noGrp="1"/>
          </p:cNvSpPr>
          <p:nvPr>
            <p:ph type="title"/>
          </p:nvPr>
        </p:nvSpPr>
        <p:spPr>
          <a:xfrm>
            <a:off x="3505200" y="511850"/>
            <a:ext cx="2583815" cy="324485"/>
          </a:xfrm>
          <a:prstGeom prst="rect">
            <a:avLst/>
          </a:prstGeom>
        </p:spPr>
        <p:txBody>
          <a:bodyPr vert="horz" wrap="square" lIns="0" tIns="12700" rIns="0" bIns="0" rtlCol="0">
            <a:spAutoFit/>
          </a:bodyPr>
          <a:lstStyle/>
          <a:p>
            <a:pPr marL="12700">
              <a:lnSpc>
                <a:spcPct val="100000"/>
              </a:lnSpc>
              <a:spcBef>
                <a:spcPts val="100"/>
              </a:spcBef>
            </a:pPr>
            <a:r>
              <a:rPr lang="en-US" sz="2650" dirty="0"/>
              <a:t>REFERENCES</a:t>
            </a:r>
            <a:endParaRPr sz="2650" dirty="0"/>
          </a:p>
        </p:txBody>
      </p:sp>
      <p:sp>
        <p:nvSpPr>
          <p:cNvPr id="8" name="object 8">
            <a:extLst>
              <a:ext uri="{FF2B5EF4-FFF2-40B4-BE49-F238E27FC236}">
                <a16:creationId xmlns:a16="http://schemas.microsoft.com/office/drawing/2014/main" id="{66E85F3E-BCB1-C460-BDCD-9A974142271C}"/>
              </a:ext>
            </a:extLst>
          </p:cNvPr>
          <p:cNvSpPr txBox="1">
            <a:spLocks noGrp="1"/>
          </p:cNvSpPr>
          <p:nvPr>
            <p:ph type="sldNum" sz="quarter" idx="7"/>
          </p:nvPr>
        </p:nvSpPr>
        <p:spPr>
          <a:xfrm>
            <a:off x="9091866" y="7148756"/>
            <a:ext cx="335534" cy="130036"/>
          </a:xfrm>
          <a:prstGeom prst="rect">
            <a:avLst/>
          </a:prstGeom>
        </p:spPr>
        <p:txBody>
          <a:bodyPr vert="horz" wrap="square" lIns="0" tIns="0" rIns="0" bIns="0" rtlCol="0">
            <a:spAutoFit/>
          </a:bodyPr>
          <a:lstStyle/>
          <a:p>
            <a:pPr marL="38100">
              <a:lnSpc>
                <a:spcPts val="1045"/>
              </a:lnSpc>
            </a:pPr>
            <a:fld id="{81D60167-4931-47E6-BA6A-407CBD079E47}" type="slidenum">
              <a:rPr spc="-5" dirty="0"/>
              <a:t>16</a:t>
            </a:fld>
            <a:endParaRPr spc="-5" dirty="0"/>
          </a:p>
        </p:txBody>
      </p:sp>
      <p:pic>
        <p:nvPicPr>
          <p:cNvPr id="4" name="object 4">
            <a:extLst>
              <a:ext uri="{FF2B5EF4-FFF2-40B4-BE49-F238E27FC236}">
                <a16:creationId xmlns:a16="http://schemas.microsoft.com/office/drawing/2014/main" id="{BE516354-C7EE-46A0-C87F-5E85A472BC79}"/>
              </a:ext>
            </a:extLst>
          </p:cNvPr>
          <p:cNvPicPr/>
          <p:nvPr/>
        </p:nvPicPr>
        <p:blipFill>
          <a:blip r:embed="rId2" cstate="print"/>
          <a:stretch>
            <a:fillRect/>
          </a:stretch>
        </p:blipFill>
        <p:spPr>
          <a:xfrm>
            <a:off x="232168" y="76200"/>
            <a:ext cx="770089" cy="754380"/>
          </a:xfrm>
          <a:prstGeom prst="rect">
            <a:avLst/>
          </a:prstGeom>
        </p:spPr>
      </p:pic>
      <p:pic>
        <p:nvPicPr>
          <p:cNvPr id="5" name="object 5">
            <a:extLst>
              <a:ext uri="{FF2B5EF4-FFF2-40B4-BE49-F238E27FC236}">
                <a16:creationId xmlns:a16="http://schemas.microsoft.com/office/drawing/2014/main" id="{F4474BA4-3663-F9F9-0299-D7BE3A87FD3E}"/>
              </a:ext>
            </a:extLst>
          </p:cNvPr>
          <p:cNvPicPr/>
          <p:nvPr/>
        </p:nvPicPr>
        <p:blipFill>
          <a:blip r:embed="rId3" cstate="print"/>
          <a:stretch>
            <a:fillRect/>
          </a:stretch>
        </p:blipFill>
        <p:spPr>
          <a:xfrm>
            <a:off x="8990076" y="268097"/>
            <a:ext cx="905255" cy="531876"/>
          </a:xfrm>
          <a:prstGeom prst="rect">
            <a:avLst/>
          </a:prstGeom>
        </p:spPr>
      </p:pic>
      <p:sp>
        <p:nvSpPr>
          <p:cNvPr id="11" name="Rectangle 2">
            <a:extLst>
              <a:ext uri="{FF2B5EF4-FFF2-40B4-BE49-F238E27FC236}">
                <a16:creationId xmlns:a16="http://schemas.microsoft.com/office/drawing/2014/main" id="{1D62FBFB-40D9-52E8-39FA-92333C194A0E}"/>
              </a:ext>
            </a:extLst>
          </p:cNvPr>
          <p:cNvSpPr>
            <a:spLocks noGrp="1" noChangeArrowheads="1"/>
          </p:cNvSpPr>
          <p:nvPr>
            <p:ph type="body" idx="1"/>
          </p:nvPr>
        </p:nvSpPr>
        <p:spPr bwMode="auto">
          <a:xfrm>
            <a:off x="600800" y="1390202"/>
            <a:ext cx="8658833" cy="5218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arenR"/>
              <a:tabLst/>
            </a:pPr>
            <a:r>
              <a:rPr kumimoji="0" lang="en-US" altLang="en-US" sz="16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Tschandl</a:t>
            </a: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 Rosendahl, C., &amp; Kittler, H. (2018). The HAM10000 dataset: A large collection of multi-source </a:t>
            </a:r>
            <a:r>
              <a:rPr kumimoji="0" lang="en-US" altLang="en-US" sz="16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dermatoscopic</a:t>
            </a: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images of common pigmented skin lesions. Scientific Data, 5(1), 180161.</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a:tabLst/>
            </a:pP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Esteva, A. et al. (2017). Dermatologist-level classification of skin cancer with deep neural networks. Nature, 542(7639), 115–118.</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a:tabLst/>
            </a:pP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Codella, N. C. F. et al. (2019). Skin Lesion Analysis Toward Melanoma Detection 2018: A Challenge Hosted by the International Skin Imaging Collaboration (ISIC). arXiv:1902.03368.</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a:tabLst/>
            </a:pP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Kawahara, J., Daneshvar, S., Argenziano, G., &amp; </a:t>
            </a:r>
            <a:r>
              <a:rPr kumimoji="0" lang="en-US" altLang="en-US" sz="16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Hamarneh</a:t>
            </a: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 (2018). Seven-point checklist and skin lesion classification using multitask multimodal neural nets. IEEE Journal of Biomedical and Health Informatics, 23(2), 538–546.</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a:tabLst/>
            </a:pP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Brinker, T. J. et al. (2019). Deep learning outperformed 136 of 157 dermatologists in a head-to-head </a:t>
            </a:r>
            <a:r>
              <a:rPr kumimoji="0" lang="en-US" altLang="en-US" sz="16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dermoscopic</a:t>
            </a: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melanoma image classification task. European Journal of Cancer, 113, 47–54.</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a:tabLst/>
            </a:pP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Abbas, Q., Celebi, M. E., &amp; Garcia, I. F. (2013). Skin tumor area extraction using an improved dynamic programming approach. Skin Research and Technology, 19(1), e93–e102.</a:t>
            </a:r>
          </a:p>
        </p:txBody>
      </p:sp>
      <p:sp>
        <p:nvSpPr>
          <p:cNvPr id="3" name="Date Placeholder 2">
            <a:extLst>
              <a:ext uri="{FF2B5EF4-FFF2-40B4-BE49-F238E27FC236}">
                <a16:creationId xmlns:a16="http://schemas.microsoft.com/office/drawing/2014/main" id="{F0AD61FB-D829-2AD9-C5A5-8CF0AD1F5507}"/>
              </a:ext>
            </a:extLst>
          </p:cNvPr>
          <p:cNvSpPr>
            <a:spLocks noGrp="1"/>
          </p:cNvSpPr>
          <p:nvPr>
            <p:ph type="dt" sz="half" idx="6"/>
          </p:nvPr>
        </p:nvSpPr>
        <p:spPr>
          <a:xfrm>
            <a:off x="705077" y="7199167"/>
            <a:ext cx="594360" cy="152400"/>
          </a:xfrm>
        </p:spPr>
        <p:txBody>
          <a:bodyPr/>
          <a:lstStyle/>
          <a:p>
            <a:pPr marL="12700">
              <a:lnSpc>
                <a:spcPts val="1045"/>
              </a:lnSpc>
            </a:pPr>
            <a:r>
              <a:rPr lang="en-US" spc="-25"/>
              <a:t>28-04-2025</a:t>
            </a:r>
            <a:endParaRPr lang="en-US" spc="-25" dirty="0"/>
          </a:p>
        </p:txBody>
      </p:sp>
      <p:sp>
        <p:nvSpPr>
          <p:cNvPr id="9" name="Footer Placeholder 8">
            <a:extLst>
              <a:ext uri="{FF2B5EF4-FFF2-40B4-BE49-F238E27FC236}">
                <a16:creationId xmlns:a16="http://schemas.microsoft.com/office/drawing/2014/main" id="{94CBA714-641A-DDD5-6EAF-2B84B41F1811}"/>
              </a:ext>
            </a:extLst>
          </p:cNvPr>
          <p:cNvSpPr>
            <a:spLocks noGrp="1"/>
          </p:cNvSpPr>
          <p:nvPr>
            <p:ph type="ftr" sz="quarter" idx="5"/>
          </p:nvPr>
        </p:nvSpPr>
        <p:spPr>
          <a:xfrm>
            <a:off x="3733800" y="7213774"/>
            <a:ext cx="2355215" cy="193462"/>
          </a:xfrm>
        </p:spPr>
        <p:txBody>
          <a:bodyPr/>
          <a:lstStyle/>
          <a:p>
            <a:pPr marL="12700">
              <a:lnSpc>
                <a:spcPts val="1045"/>
              </a:lnSpc>
            </a:pPr>
            <a:r>
              <a:rPr lang="en-US" spc="-25" dirty="0"/>
              <a:t>SNSCT/CSE/Project/NCAIDIET'25_Conference</a:t>
            </a:r>
            <a:endParaRPr lang="en-US" spc="-5" dirty="0"/>
          </a:p>
        </p:txBody>
      </p:sp>
    </p:spTree>
    <p:extLst>
      <p:ext uri="{BB962C8B-B14F-4D97-AF65-F5344CB8AC3E}">
        <p14:creationId xmlns:p14="http://schemas.microsoft.com/office/powerpoint/2010/main" val="118294829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7400" y="2895600"/>
            <a:ext cx="6781800" cy="1244571"/>
          </a:xfrm>
          <a:prstGeom prst="rect">
            <a:avLst/>
          </a:prstGeom>
        </p:spPr>
        <p:txBody>
          <a:bodyPr vert="horz" wrap="square" lIns="0" tIns="13335" rIns="0" bIns="0" rtlCol="0">
            <a:spAutoFit/>
          </a:bodyPr>
          <a:lstStyle/>
          <a:p>
            <a:pPr marL="12700">
              <a:lnSpc>
                <a:spcPct val="100000"/>
              </a:lnSpc>
              <a:spcBef>
                <a:spcPts val="105"/>
              </a:spcBef>
            </a:pPr>
            <a:r>
              <a:rPr sz="8000" b="0" spc="295" dirty="0">
                <a:latin typeface="Algerian" panose="04020705040A02060702" pitchFamily="82" charset="0"/>
                <a:cs typeface="Times New Roman" panose="02020603050405020304" pitchFamily="18" charset="0"/>
              </a:rPr>
              <a:t>THANK</a:t>
            </a:r>
            <a:r>
              <a:rPr sz="8000" b="0" spc="-180" dirty="0">
                <a:latin typeface="Algerian" panose="04020705040A02060702" pitchFamily="82" charset="0"/>
                <a:cs typeface="Times New Roman" panose="02020603050405020304" pitchFamily="18" charset="0"/>
              </a:rPr>
              <a:t> </a:t>
            </a:r>
            <a:r>
              <a:rPr sz="8000" b="0" spc="-20" dirty="0">
                <a:latin typeface="Algerian" panose="04020705040A02060702" pitchFamily="82" charset="0"/>
                <a:cs typeface="Times New Roman" panose="02020603050405020304" pitchFamily="18" charset="0"/>
              </a:rPr>
              <a:t>YOU</a:t>
            </a:r>
            <a:r>
              <a:rPr lang="en-IN" sz="8000" b="0" spc="-20" dirty="0">
                <a:latin typeface="Algerian" panose="04020705040A02060702" pitchFamily="82" charset="0"/>
                <a:cs typeface="Times New Roman" panose="02020603050405020304" pitchFamily="18" charset="0"/>
              </a:rPr>
              <a:t>!!</a:t>
            </a:r>
            <a:endParaRPr sz="8000" dirty="0">
              <a:latin typeface="Algerian" panose="04020705040A02060702" pitchFamily="82" charset="0"/>
              <a:cs typeface="Times New Roman" panose="02020603050405020304" pitchFamily="18" charset="0"/>
            </a:endParaRPr>
          </a:p>
        </p:txBody>
      </p:sp>
      <p:pic>
        <p:nvPicPr>
          <p:cNvPr id="3" name="object 3"/>
          <p:cNvPicPr/>
          <p:nvPr/>
        </p:nvPicPr>
        <p:blipFill>
          <a:blip r:embed="rId2" cstate="print"/>
          <a:stretch>
            <a:fillRect/>
          </a:stretch>
        </p:blipFill>
        <p:spPr>
          <a:xfrm>
            <a:off x="8990076" y="312420"/>
            <a:ext cx="905255" cy="531876"/>
          </a:xfrm>
          <a:prstGeom prst="rect">
            <a:avLst/>
          </a:prstGeom>
        </p:spPr>
      </p:pic>
      <p:pic>
        <p:nvPicPr>
          <p:cNvPr id="4" name="object 4"/>
          <p:cNvPicPr/>
          <p:nvPr/>
        </p:nvPicPr>
        <p:blipFill>
          <a:blip r:embed="rId3" cstate="print"/>
          <a:stretch>
            <a:fillRect/>
          </a:stretch>
        </p:blipFill>
        <p:spPr>
          <a:xfrm>
            <a:off x="232168" y="312420"/>
            <a:ext cx="770089" cy="754380"/>
          </a:xfrm>
          <a:prstGeom prst="rect">
            <a:avLst/>
          </a:prstGeom>
        </p:spPr>
      </p:pic>
    </p:spTree>
  </p:cSld>
  <p:clrMapOvr>
    <a:masterClrMapping/>
  </p:clrMapOvr>
  <p:transition spd="slow">
    <p:wheel spokes="1"/>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1543</TotalTime>
  <Words>1628</Words>
  <Application>Microsoft Office PowerPoint</Application>
  <PresentationFormat>Custom</PresentationFormat>
  <Paragraphs>185</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Algerian</vt:lpstr>
      <vt:lpstr>Arial</vt:lpstr>
      <vt:lpstr>Calibri</vt:lpstr>
      <vt:lpstr>Times New Roman</vt:lpstr>
      <vt:lpstr>Wingdings</vt:lpstr>
      <vt:lpstr>Office Theme</vt:lpstr>
      <vt:lpstr>COIMBATORE-641035</vt:lpstr>
      <vt:lpstr>INTRODUCTION</vt:lpstr>
      <vt:lpstr>PROBLEM STATEMENT</vt:lpstr>
      <vt:lpstr>LITERATURE SURVEY</vt:lpstr>
      <vt:lpstr>LITERATURE SURVEY</vt:lpstr>
      <vt:lpstr>EXISTING SYSTEM</vt:lpstr>
      <vt:lpstr>LIMITATIONS</vt:lpstr>
      <vt:lpstr>PROPOSED SYETEM</vt:lpstr>
      <vt:lpstr>SYSTEM FLOW DIAGRAM </vt:lpstr>
      <vt:lpstr>TECHNOLOGIES USED</vt:lpstr>
      <vt:lpstr>SYSTEM ARCHITECTURE</vt:lpstr>
      <vt:lpstr>RESULTS &amp; DISCUSSION</vt:lpstr>
      <vt:lpstr>v</vt:lpstr>
      <vt:lpstr>PROJECT OUTCOME</vt:lpstr>
      <vt:lpstr>CONCLUSION </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Review_0   PP-1</dc:title>
  <dc:creator>Aishwarya Rajasekar</dc:creator>
  <cp:lastModifiedBy>MEGAVARSHINI A</cp:lastModifiedBy>
  <cp:revision>147</cp:revision>
  <dcterms:created xsi:type="dcterms:W3CDTF">2024-10-21T16:05:40Z</dcterms:created>
  <dcterms:modified xsi:type="dcterms:W3CDTF">2025-11-28T07:32:46Z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2024-10-21T00:00:00Z</vt:filetime>
  </property>
  <property fmtid="{D5CDD505-2E9C-101B-9397-08002B2CF9AE}" pid="3" name="Creator">
    <vt:lpwstr>Microsoft® PowerPoint® 2019</vt:lpwstr>
  </property>
  <property fmtid="{D5CDD505-2E9C-101B-9397-08002B2CF9AE}" pid="4" name="LastSaved">
    <vt:filetime>2024-10-21T00:00:00Z</vt:filetime>
  </property>
</Properties>
</file>